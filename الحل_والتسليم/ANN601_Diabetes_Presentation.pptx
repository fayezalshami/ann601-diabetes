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e6daca38a74573" /><Relationship Type="http://schemas.openxmlformats.org/officeDocument/2006/relationships/extended-properties" Target="/docProps/app.xml" Id="R8476fe24cadc4ae1" /><Relationship Type="http://schemas.openxmlformats.org/officeDocument/2006/relationships/officeDocument" Target="/ppt/presentation.xml" Id="Re249083aa5534cbd" /></Relationships>
</file>

<file path=ppt/presentation.xml><?xml version="1.0" encoding="utf-8"?>
<p:presentation xmlns:p="http://schemas.openxmlformats.org/presentationml/2006/main">
  <p:sldMasterIdLst>
    <p:sldMasterId xmlns:r="http://schemas.openxmlformats.org/officeDocument/2006/relationships" id="2147483648" r:id="R23744f65852c4866"/>
  </p:sldMasterIdLst>
  <p:notesMasterIdLst>
    <p:notesMasterId xmlns:r="http://schemas.openxmlformats.org/officeDocument/2006/relationships" r:id="R78fff0219e424481"/>
  </p:notesMasterIdLst>
  <p:sldIdLst>
    <p:sldId xmlns:r="http://schemas.openxmlformats.org/officeDocument/2006/relationships" id="256" r:id="R613f171c574e4043"/>
    <p:sldId xmlns:r="http://schemas.openxmlformats.org/officeDocument/2006/relationships" id="257" r:id="Rbc8add98dc6b463e"/>
    <p:sldId xmlns:r="http://schemas.openxmlformats.org/officeDocument/2006/relationships" id="258" r:id="R8d2a40b841774cc3"/>
    <p:sldId xmlns:r="http://schemas.openxmlformats.org/officeDocument/2006/relationships" id="259" r:id="R4404ac0d3f834a4a"/>
    <p:sldId xmlns:r="http://schemas.openxmlformats.org/officeDocument/2006/relationships" id="260" r:id="R1d682e074d4e48c5"/>
    <p:sldId xmlns:r="http://schemas.openxmlformats.org/officeDocument/2006/relationships" id="261" r:id="Rde91484c63d54f3b"/>
    <p:sldId xmlns:r="http://schemas.openxmlformats.org/officeDocument/2006/relationships" id="262" r:id="R1deaf00117b340d4"/>
    <p:sldId xmlns:r="http://schemas.openxmlformats.org/officeDocument/2006/relationships" id="263" r:id="Re4c6358d005043f6"/>
    <p:sldId xmlns:r="http://schemas.openxmlformats.org/officeDocument/2006/relationships" id="264" r:id="Rff1f97b866b24164"/>
    <p:sldId xmlns:r="http://schemas.openxmlformats.org/officeDocument/2006/relationships" id="265" r:id="R7b4e1125f6e74662"/>
    <p:sldId xmlns:r="http://schemas.openxmlformats.org/officeDocument/2006/relationships" id="266" r:id="Rbc2fb89b17484a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04c9adf03d4ccf" /><Relationship Type="http://schemas.openxmlformats.org/officeDocument/2006/relationships/slideMaster" Target="/ppt/slideMasters/slideMaster1.xml" Id="R23744f65852c4866" /><Relationship Type="http://schemas.openxmlformats.org/officeDocument/2006/relationships/notesMaster" Target="/ppt/notesMasters/notesMaster1.xml" Id="R78fff0219e424481" /><Relationship Type="http://schemas.openxmlformats.org/officeDocument/2006/relationships/presProps" Target="/ppt/presProps.xml" Id="R69d5da79860148ae" /><Relationship Type="http://schemas.openxmlformats.org/officeDocument/2006/relationships/tableStyles" Target="/ppt/tableStyles.xml" Id="Rc799a961af46402f" /><Relationship Type="http://schemas.openxmlformats.org/officeDocument/2006/relationships/slide" Target="/ppt/slides/slide1.xml" Id="R613f171c574e4043" /><Relationship Type="http://schemas.openxmlformats.org/officeDocument/2006/relationships/slide" Target="/ppt/slides/slide2.xml" Id="Rbc8add98dc6b463e" /><Relationship Type="http://schemas.openxmlformats.org/officeDocument/2006/relationships/slide" Target="/ppt/slides/slide3.xml" Id="R8d2a40b841774cc3" /><Relationship Type="http://schemas.openxmlformats.org/officeDocument/2006/relationships/slide" Target="/ppt/slides/slide4.xml" Id="R4404ac0d3f834a4a" /><Relationship Type="http://schemas.openxmlformats.org/officeDocument/2006/relationships/slide" Target="/ppt/slides/slide5.xml" Id="R1d682e074d4e48c5" /><Relationship Type="http://schemas.openxmlformats.org/officeDocument/2006/relationships/slide" Target="/ppt/slides/slide6.xml" Id="Rde91484c63d54f3b" /><Relationship Type="http://schemas.openxmlformats.org/officeDocument/2006/relationships/slide" Target="/ppt/slides/slide7.xml" Id="R1deaf00117b340d4" /><Relationship Type="http://schemas.openxmlformats.org/officeDocument/2006/relationships/slide" Target="/ppt/slides/slide8.xml" Id="Re4c6358d005043f6" /><Relationship Type="http://schemas.openxmlformats.org/officeDocument/2006/relationships/slide" Target="/ppt/slides/slide9.xml" Id="Rff1f97b866b24164" /><Relationship Type="http://schemas.openxmlformats.org/officeDocument/2006/relationships/slide" Target="/ppt/slides/slide10.xml" Id="R7b4e1125f6e74662" /><Relationship Type="http://schemas.openxmlformats.org/officeDocument/2006/relationships/slide" Target="/ppt/slides/slide11.xml" Id="Rbc2fb89b17484a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3bb589e6ca48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984d46be664916" /><Relationship Type="http://schemas.openxmlformats.org/officeDocument/2006/relationships/notesMaster" Target="/ppt/notesMasters/notesMaster1.xml" Id="Rdab9b2da4f7042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1912bc9b9411f" /><Relationship Type="http://schemas.openxmlformats.org/officeDocument/2006/relationships/notesMaster" Target="/ppt/notesMasters/notesMaster1.xml" Id="R1306a338dddd47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796cb78eec4f22" /><Relationship Type="http://schemas.openxmlformats.org/officeDocument/2006/relationships/notesMaster" Target="/ppt/notesMasters/notesMaster1.xml" Id="R0591be530ba245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a9d489d64e43dc" /><Relationship Type="http://schemas.openxmlformats.org/officeDocument/2006/relationships/notesMaster" Target="/ppt/notesMasters/notesMaster1.xml" Id="R42da298b6f4242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3045db3f794641" /><Relationship Type="http://schemas.openxmlformats.org/officeDocument/2006/relationships/notesMaster" Target="/ppt/notesMasters/notesMaster1.xml" Id="Rf0ac637599e942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8332697c854319" /><Relationship Type="http://schemas.openxmlformats.org/officeDocument/2006/relationships/notesMaster" Target="/ppt/notesMasters/notesMaster1.xml" Id="Rdb2b42639aac4e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44ab441749447e" /><Relationship Type="http://schemas.openxmlformats.org/officeDocument/2006/relationships/notesMaster" Target="/ppt/notesMasters/notesMaster1.xml" Id="Rdba45e7a79c047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88b8f032474a5a" /><Relationship Type="http://schemas.openxmlformats.org/officeDocument/2006/relationships/notesMaster" Target="/ppt/notesMasters/notesMaster1.xml" Id="Reec25aae707c43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9530496ae843d4" /><Relationship Type="http://schemas.openxmlformats.org/officeDocument/2006/relationships/notesMaster" Target="/ppt/notesMasters/notesMaster1.xml" Id="R270228d161f646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4b4454d92b4627" /><Relationship Type="http://schemas.openxmlformats.org/officeDocument/2006/relationships/notesMaster" Target="/ppt/notesMasters/notesMaster1.xml" Id="Raa93fee8b93341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ec35b7e3144816" /><Relationship Type="http://schemas.openxmlformats.org/officeDocument/2006/relationships/notesMaster" Target="/ppt/notesMasters/notesMaster1.xml" Id="Re60a6456ccf548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هذا المشروع نطبق الشبكات العصبونية على بيانات Pima للتنبؤ بحالة الإصابة المسجلة بالسكري. الفكرة مطابقة للمقترح المقبول، والمقارنة بين شبكة بطبقة مخفية من 32 عصبونا وشبكة بطبقتين من 32 و16. سنعرض البيانات وخطوات المعالجة ثم آلية التدريب واختيار النموذج والنتائج. هدفنا ليس تقديم تشخيص طبي، بل بناء تجربة قابلة لإعادة التشغيل وفهم ما تستطيع الشبكة تعلمه وما حدودها. النتيجة الأساسية أن الشبكة الثانية حققت دقة اختبار 71.43 بالمئة، لكن استدعاء المصابات بقي منخفضا، وسنوضح معنى ذلك من مصفوفة الالتباس.</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تحتوي البيانات على 768 سجلا لإناث من أصول Pima بعمر 21 سنة فما فوق. كل سجل يتضمن ثماني ميزات عددية هي الحمل والغلوكوز وضغط الدم وسماكة الجلد والأنسولين ومؤشر كتلة الجسم ومؤشر وراثة السكري والعمر. المتغير الهدف ثنائي، صفر لغير المصابة وواحد للمصابة. عدد الفئة صفر هو 500 وعدد الفئة واحد 268، لذلك البيانات ليست متوازنة تماما. مصدر الفهرسة المذكور في المقترح هو Kaggle. استعملنا نسخة CSV منشورة من بيانات Pima نفسها بعد تعذر رابط التنزيل، ووثقنا الرابط والبصمة وأرفقنا الملف لتعمل التجربة دون تنزيل جديد. وصف البيانات الأصلي والدراسة موجودان في المراجع.</a:t>
            </a:r>
          </a:p>
          <a:p xmlns:a="http://schemas.openxmlformats.org/drawingml/2006/main">
            <a:r>
              <a:t/>
            </a:r>
          </a:p>
          <a:p xmlns:a="http://schemas.openxmlformats.org/drawingml/2006/main">
            <a:r>
              <a:t>Sources:</a:t>
            </a:r>
          </a:p>
          <a:p xmlns:a="http://schemas.openxmlformats.org/drawingml/2006/main">
            <a:r>
              <a:t>https://raw.githubusercontent.com/jbrownlee/Datasets/master/pima-indians-diabetes.names</a:t>
            </a:r>
          </a:p>
          <a:p xmlns:a="http://schemas.openxmlformats.org/drawingml/2006/main">
            <a:r>
              <a:t>https://pmc.ncbi.nlm.nih.gov/articles/PMC2245318/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لم نجد خلايا فارغة صريحة أو صفوفا مكررة، لكن توجد أصفار لا تمثل قياسات صالحة في خمسة أعمدة. في الغلوكوز توجد خمس قيم، وفي ضغط الدم 35، وفي سماكة الجلد 227، وفي الأنسولين 374، وفي مؤشر كتلة الجسم 11. حولنا هذه الأصفار إلى قيم مفقودة، وأبقينا الصفر في عدد مرات الحمل لأنه منطقي. بعد التقسيم عوضنا القيم المفقودة بوسيط كل ميزة المحسوب على التدريب فقط. اخترنا الوسيط لبساطته وقلة تأثره بالقيم الكبيرة. كثرة القيم المفقودة، خاصة الأنسولين، تبقى نقطة ضعف ولا تزول بمجرد التعويض. فحصنا أيضا القيم المتطرفة إحصائيا وأبقيناها لعدم وجود دليل على خطئها.</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a:p xmlns:a="http://schemas.openxmlformats.org/drawingml/2006/main">
            <a:r>
              <a:t>https://scikit-learn.org/stable/modules/generated/sklearn.impute.SimpleImputer.html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قسمنا البيانات طبقيا ببذرة عشوائية ثابتة هي 42. خصصنا 460 صفا للتدريب و154 للتحقق و154 للاختبار، وهي نسب قريبة من ستين وعشرين وعشرين بالمئة. يوجد في التدريب 300 من الفئة صفر و160 من الفئة واحد، وفي كل من التحقق والاختبار 100 و54. تعلمنا وسيط التعويض ثم متوسط وانحراف القياس المعياري من التدريب فقط. طبقنا القيم نفسها على التحقق والاختبار دون إعادة ملاءمة. دور التحقق اختيار دورة التدريب والبنية، أما الاختبار فيبقى محجوزا للتقييم النهائي. حفظنا مؤشرات الصفوف مع الملفات حتى يمكن التأكد من عدم وجود تداخل بين الأقسام.</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a:p xmlns:a="http://schemas.openxmlformats.org/drawingml/2006/main">
            <a:r>
              <a:t>https://scikit-learn.org/stable/modules/generated/sklearn.preprocessing.StandardScaler.html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الشبكة الأولى لها ثمانية مداخل وطبقة مخفية واحدة من 32 عصبونا، ثم خرج واحد. الشبكة الثانية لها المداخل نفسها وطبقتان مخفيتان من 32 و16، ثم خرج واحد. التفعيل في الطبقات المخفية هو ReLU وفي الخرج Sigmoid، ولذلك تعطي الشبكة احتمال الفئة المصابة. عدد الأوزان والانحيازات في الشبكة الأولى 321، وفي الثانية 833. استعملنا محسن Adam بمعدل تعلم 0.001 وحجم دفعة 32 وتنظيم L2 بمعامل 0.0001. نفذنا النموذج باستخدام MLPClassifier، وهو شبكة عصبونية فعلية. واستعملنا partial_fit حتى نتابع التدريب دورة بدورة مع الحفاظ على حالة المحسن، بدلا من إعادة تهيئته في كل دورة.</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a:p xmlns:a="http://schemas.openxmlformats.org/drawingml/2006/main">
            <a:r>
              <a:t>https://scikit-learn.org/stable/modules/generated/sklearn.neural_network.MLPClassifier.html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كل دورة نخلط صفوف التدريب ونحدث الأوزان ثم نحسب خسارة التدريب والتحقق. الحد الأقصى 500 دورة، لكننا نتوقف بعد أربعين دورة دون تحسن مهم مقداره 0.0001 في خسارة التحقق. حفظ أفضل نسخة يعتمد على أي انخفاض في الخسارة، بينما مقدار التحسن المذكور يستخدم لعداد التوقف فقط. في الشبكة الأولى كانت أفضل دورة هي 24 وتوقف التنفيذ عند 62، وفي الثانية كانت أفضل دورة 15 وتوقف التنفيذ عند 55. يبين الرسم أن خسارة التدريب قد تواصل الانخفاض بينما تتوقف فائدة ذلك على التحقق، ولذلك نعود إلى أفضل نسخة محفوظة بدلا من آخر نسخة.</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حددنا معيار الاختيار قبل النظر إلى الاختبار، وهو أقل خسارة تحقق. حققت الشبكة الأولى خسارة 0.418626، بينما حققت الثانية 0.416266، ولذلك اخترنا الشبكة الثانية. دقة التحقق كانت نحو 79.22 بالمئة للأولى و79.87 بالمئة للثانية. الفارق صغير، ولا يسمح بالقول إن الطبقتين أفضل دائما. الأهم أن الاختيار تم بمعيار واحد وبنفس البيانات لكلا النموذجين. بعد تثبيت هذا القرار حسبنا نتائج الاختبار للشبكتين للمقارنة المطلوبة، ولم نعدل البنية أو معدل التعلم أو العتبة بناء على هذه النتائج. عتبة القرار بقيت نصفا طوال التجربة.</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عدد حالات الاختبار 154. دقة الشبكة الأولى 69.48 بالمئة ودقة الثانية 71.43 بالمئة. الدقة الإيجابية للثانية 60.87 بالمئة، والاستدعاء 51.85 بالمئة، وF1 يساوي 0.56. الدقة تعني نسبة كل التنبؤات الصحيحة. أما الاستدعاء فيقيس نسبة المصابات اللواتي اكتشفهن النموذج من جميع المصابات. هذه نقطة مهمة لأن توقع الفئة غير المصابة دائما يحقق وحده دقة 64.94 بالمئة لكنه لا يكتشف أي مصابة. الشبكة الثانية أفضل على الدقة وF1، لكن خسارة اختبارها أعلى قليلا من الأولى. هذا ممكن لأن خسارة الاحتمالات تتأثر بمدى الثقة في الأخطاء وليس بالتصنيف النهائي وحده.</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نقرأ المصفوفة بحيث تمثل الصفوف الفئة الحقيقية والأعمدة الفئة المتوقعة، بالترتيب صفر ثم واحد. الشبكة الثانية صنفت 82 حالة غير مصابة بشكل صحيح، وأعطت 18 إنذارا إيجابيا كاذبا. ومن أصل 54 حالة مصابة اكتشفت 28 وأخفقت في اكتشاف 26. مجموع التصنيفات الصحيحة 110 من 154. مقارنة بالشبكة الأولى اكتشفت ثلاث حالات مصابة إضافية، بينما بقي عدد الإنذارات الكاذبة نفسه. لذلك تحسن الاستدعاء بخمس نقاط وست وخمسين من مئة تقريبا، لكنه بقي غير كاف للاستعمال السريري. ينبغي مناقشة الحالات الفائتة بصراحة وعدم الاكتفاء برقم الدقة الإجمالي.</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نعرض الآن التشغيل من مجلد Code. بعد تثبيت المكتبات المثبتة الإصدارات في requirements نشغل train.py فيعيد إنشاء النماذج والمقاييس والرسوم. ثم نشغل verify_results.py الذي يفحص فصل الأقسام، ويتأكد أن التعويض والقياس تعلما من التدريب، ويعيد حساب المقاييس والتنبؤات من النماذج المحفوظة. أخيرا نشغل predict.py لعرض مثال من الاختبار مع الاحتمال والفئة الحقيقية والمتوقعة. هذا المثال ليس حالة جديدة مستقلة. يمكن تشغيل الدفتر المرفق على Colab أيضا، لأن البيانات والكود مضمنان فيه ولا يحتاج GPU. عند تسجيل العرض نخصص نحو نصف دقيقة لإظهار مخرجات التشغيل الفعلية والرسوم.</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نستنتج أن الشبكتين تعلمتا علاقة بين الميزات وحالة الإصابة المسجلة، وأن الشبكة الثانية اختيرت على التحقق وحققت تحسنا محدودا في الاختبار. نقاط القوة هي منع تسريب البيانات وحفظ المعالجة والتقسيم وسجلات التدريب. أما أهم القيود فهي صغر العينة وكثرة المفقودات واعتماد تقييمنا على تقسيم واحد وفئة سكانية محددة، إضافة إلى فقدان عدد كبير من الحالات المصابة. مستقبلا يمكن فحص تحقق متقاطع داخل التدريب، ومقارنة التعويض، وضبط أوزان الفئات أو العتبة على التحقق فقط لتحسين الاستدعاء. هذه اقتراحات ولم ننفذها في النتائج الحالية. أي تطوير لاحق يحتاج اختبارا مستقلا جديدا. بهذا نكون عرضنا الخطوات والنتيجة مع حدودها، وشكرا لكم.</a:t>
            </a:r>
          </a:p>
          <a:p xmlns:a="http://schemas.openxmlformats.org/drawingml/2006/main">
            <a:r>
              <a:t/>
            </a:r>
          </a:p>
          <a:p xmlns:a="http://schemas.openxmlformats.org/drawingml/2006/main">
            <a:r>
              <a:t>Sources:</a:t>
            </a:r>
          </a:p>
          <a:p xmlns:a="http://schemas.openxmlformats.org/drawingml/2006/main">
            <a:r>
              <a:t>Local experiment: Code/results/metrics.json; approved ANN601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8e040354242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3d444da38f47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ea41b3aec94e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5692b9dced44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392910228b4c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2d846eff2a4f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CBFE5D-BC98-4248-ADAF-EF1E28D879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A9E5A7-E17E-4DEA-94DA-C5323DABA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BCF381-8966-404F-86B0-55D5D8EF2E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697C12-F0A4-4707-8F49-C16C9A72B4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813DDB-3B58-4D91-B2CD-7584D6C8D8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046FB1-EEC8-4F96-9817-329C67209E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E37E9A-B4DD-421C-B434-E4A45A7720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D056EA-767B-439D-A482-143503461F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8BCEFE-28FC-4656-967A-5C00CAFDE8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2F9CEA-7883-4AB6-895E-05996CE64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e370cc035e4fc9" /><Relationship Type="http://schemas.openxmlformats.org/officeDocument/2006/relationships/slideLayout" Target="/ppt/slideLayouts/slideLayout1.xml" Id="R6a6101d926c94a7f" /><Relationship Type="http://schemas.openxmlformats.org/officeDocument/2006/relationships/slideLayout" Target="/ppt/slideLayouts/slideLayout2.xml" Id="R8397577c9a604b44" /><Relationship Type="http://schemas.openxmlformats.org/officeDocument/2006/relationships/slideLayout" Target="/ppt/slideLayouts/slideLayout3.xml" Id="Rb82f098f8cf54633" /><Relationship Type="http://schemas.openxmlformats.org/officeDocument/2006/relationships/slideLayout" Target="/ppt/slideLayouts/slideLayout4.xml" Id="R995ba0bc1ac8491c" /><Relationship Type="http://schemas.openxmlformats.org/officeDocument/2006/relationships/slideLayout" Target="/ppt/slideLayouts/slideLayout5.xml" Id="Ra5f1eb018cc048d9" /><Relationship Type="http://schemas.openxmlformats.org/officeDocument/2006/relationships/slideLayout" Target="/ppt/slideLayouts/slideLayout6.xml" Id="R31aad1af52e4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101d926c94a7f"/>
    <p:sldLayoutId xmlns:r="http://schemas.openxmlformats.org/officeDocument/2006/relationships" id="2147483650" r:id="R8397577c9a604b44"/>
    <p:sldLayoutId xmlns:r="http://schemas.openxmlformats.org/officeDocument/2006/relationships" id="2147483651" r:id="Rb82f098f8cf54633"/>
    <p:sldLayoutId xmlns:r="http://schemas.openxmlformats.org/officeDocument/2006/relationships" id="2147483652" r:id="R995ba0bc1ac8491c"/>
    <p:sldLayoutId xmlns:r="http://schemas.openxmlformats.org/officeDocument/2006/relationships" id="2147483653" r:id="Ra5f1eb018cc048d9"/>
    <p:sldLayoutId xmlns:r="http://schemas.openxmlformats.org/officeDocument/2006/relationships" id="2147483654" r:id="R31aad1af52e4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9bc4f1ab5a4bce" /><Relationship Type="http://schemas.openxmlformats.org/officeDocument/2006/relationships/image" Target="/ppt/media/image.jpeg" Id="R86aacac83d8a43d1" /><Relationship Type="http://schemas.openxmlformats.org/officeDocument/2006/relationships/notesSlide" Target="/ppt/notesSlides/notesSlide1.xml" Id="R39f285ed1e5c4a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393a9932d8408e" /><Relationship Type="http://schemas.openxmlformats.org/officeDocument/2006/relationships/notesSlide" Target="/ppt/notesSlides/notesSlide2.xml" Id="R0eb385c8264e4c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cf00c3b41940f8" /><Relationship Type="http://schemas.openxmlformats.org/officeDocument/2006/relationships/notesSlide" Target="/ppt/notesSlides/notesSlide3.xml" Id="Rc8a32536880347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313d92c8c04ee5" /><Relationship Type="http://schemas.openxmlformats.org/officeDocument/2006/relationships/notesSlide" Target="/ppt/notesSlides/notesSlide4.xml" Id="Ra220ecc4a0814c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1d53f5561f4d59" /><Relationship Type="http://schemas.openxmlformats.org/officeDocument/2006/relationships/notesSlide" Target="/ppt/notesSlides/notesSlide5.xml" Id="R7e86b45b7b984b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5f939a006a43a8" /><Relationship Type="http://schemas.openxmlformats.org/officeDocument/2006/relationships/image" Target="/ppt/media/image.png" Id="R8d10ea87dccf40d1" /><Relationship Type="http://schemas.openxmlformats.org/officeDocument/2006/relationships/notesSlide" Target="/ppt/notesSlides/notesSlide6.xml" Id="R7d3769b204f842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4c0bb83f01f4072" /><Relationship Type="http://schemas.openxmlformats.org/officeDocument/2006/relationships/notesSlide" Target="/ppt/notesSlides/notesSlide7.xml" Id="R0be433c4043442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becc6af8954619" /><Relationship Type="http://schemas.openxmlformats.org/officeDocument/2006/relationships/notesSlide" Target="/ppt/notesSlides/notesSlide8.xml" Id="R9230023a4ab647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a683fe6340b40d2" /><Relationship Type="http://schemas.openxmlformats.org/officeDocument/2006/relationships/notesSlide" Target="/ppt/notesSlides/notesSlide9.xml" Id="R61b5a2b1e7d444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75ea0863eb4f46" /><Relationship Type="http://schemas.openxmlformats.org/officeDocument/2006/relationships/notesSlide" Target="/ppt/notesSlides/notesSlide10.xml" Id="R2b13c4d3ceac4c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ee2754fd86945f6" /><Relationship Type="http://schemas.openxmlformats.org/officeDocument/2006/relationships/notesSlide" Target="/ppt/notesSlides/notesSlide11.xml" Id="R0029041b9d8e41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30DD567-5497-4472-BB12-8BB6A683BCEB}"/>
              </a:ext>
            </a:extLst>
          </p:cNvPr>
          <p:cNvPicPr>
            <a:picLocks xmlns:a="http://schemas.openxmlformats.org/drawingml/2006/main" noChangeAspect="1"/>
          </p:cNvPicPr>
          <p:nvPr/>
        </p:nvPicPr>
        <p:blipFill>
          <a:blip xmlns:r="http://schemas.openxmlformats.org/officeDocument/2006/relationships" xmlns:a="http://schemas.openxmlformats.org/drawingml/2006/main" r:embed="R86aacac83d8a43d1"/>
          <a:stretch xmlns:a="http://schemas.openxmlformats.org/drawingml/2006/main"/>
        </p:blipFill>
        <p:spPr>
          <a:xfrm xmlns:a="http://schemas.openxmlformats.org/drawingml/2006/main">
            <a:off x="809625" y="930164"/>
            <a:ext cx="1524000" cy="114004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C95E01-0F92-4C7A-9171-B685813F1693}"/>
              </a:ext>
            </a:extLst>
          </p:cNvPr>
          <p:cNvSpPr>
            <a:spLocks xmlns:a="http://schemas.openxmlformats.org/drawingml/2006/main" noGrp="1"/>
          </p:cNvSpPr>
          <p:nvPr/>
        </p:nvSpPr>
        <p:spPr>
          <a:xfrm xmlns:a="http://schemas.openxmlformats.org/drawingml/2006/main">
            <a:off x="3286125" y="838200"/>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700" b="1">
                <a:solidFill>
                  <a:srgbClr val="172936"/>
                </a:solidFill>
                <a:latin typeface="Arial"/>
                <a:ea typeface="Arial"/>
                <a:cs typeface="Arial"/>
              </a:defRPr>
            </a:defPPr>
            <a:lvl1pPr algn="r">
              <a:defRPr sz="2700" b="1">
                <a:solidFill>
                  <a:srgbClr val="172936"/>
                </a:solidFill>
                <a:latin typeface="Arial"/>
                <a:ea typeface="Arial"/>
                <a:cs typeface="Arial"/>
              </a:defRPr>
            </a:lvl1pPr>
            <a:lvl2pPr algn="r">
              <a:defRPr sz="2700" b="1">
                <a:solidFill>
                  <a:srgbClr val="172936"/>
                </a:solidFill>
                <a:latin typeface="Arial"/>
                <a:ea typeface="Arial"/>
                <a:cs typeface="Arial"/>
              </a:defRPr>
            </a:lvl2pPr>
            <a:lvl3pPr algn="r">
              <a:defRPr sz="2700" b="1">
                <a:solidFill>
                  <a:srgbClr val="172936"/>
                </a:solidFill>
                <a:latin typeface="Arial"/>
                <a:ea typeface="Arial"/>
                <a:cs typeface="Arial"/>
              </a:defRPr>
            </a:lvl3pPr>
            <a:lvl4pPr algn="r">
              <a:defRPr sz="2700" b="1">
                <a:solidFill>
                  <a:srgbClr val="172936"/>
                </a:solidFill>
                <a:latin typeface="Arial"/>
                <a:ea typeface="Arial"/>
                <a:cs typeface="Arial"/>
              </a:defRPr>
            </a:lvl4pPr>
            <a:lvl5pPr algn="r">
              <a:defRPr sz="2700" b="1">
                <a:solidFill>
                  <a:srgbClr val="172936"/>
                </a:solidFill>
                <a:latin typeface="Arial"/>
                <a:ea typeface="Arial"/>
                <a:cs typeface="Arial"/>
              </a:defRPr>
            </a:lvl5pPr>
            <a:lvl6pPr algn="r">
              <a:defRPr sz="2700" b="1">
                <a:solidFill>
                  <a:srgbClr val="172936"/>
                </a:solidFill>
                <a:latin typeface="Arial"/>
                <a:ea typeface="Arial"/>
                <a:cs typeface="Arial"/>
              </a:defRPr>
            </a:lvl6pPr>
            <a:lvl7pPr algn="r">
              <a:defRPr sz="2700" b="1">
                <a:solidFill>
                  <a:srgbClr val="172936"/>
                </a:solidFill>
                <a:latin typeface="Arial"/>
                <a:ea typeface="Arial"/>
                <a:cs typeface="Arial"/>
              </a:defRPr>
            </a:lvl7pPr>
            <a:lvl8pPr algn="r">
              <a:defRPr sz="2700" b="1">
                <a:solidFill>
                  <a:srgbClr val="172936"/>
                </a:solidFill>
                <a:latin typeface="Arial"/>
                <a:ea typeface="Arial"/>
                <a:cs typeface="Arial"/>
              </a:defRPr>
            </a:lvl8pPr>
            <a:lvl9pPr algn="r">
              <a:defRPr sz="2700" b="1">
                <a:solidFill>
                  <a:srgbClr val="172936"/>
                </a:solidFill>
                <a:latin typeface="Arial"/>
                <a:ea typeface="Arial"/>
                <a:cs typeface="Arial"/>
              </a:defRPr>
            </a:lvl9pPr>
          </a:lstStyle>
          <a:p xmlns:a="http://schemas.openxmlformats.org/drawingml/2006/main">
            <a:pPr algn="r" rtl="1">
              <a:defRPr sz="2700" b="1" lang="ar-SA">
                <a:solidFill>
                  <a:srgbClr val="172936"/>
                </a:solidFill>
                <a:latin typeface="Arial"/>
                <a:ea typeface="Arial"/>
                <a:cs typeface="Arial"/>
              </a:defRPr>
            </a:pPr>
            <a:r>
              <a:rPr sz="2700" b="1" lang="ar-SA">
                <a:solidFill>
                  <a:srgbClr val="172936"/>
                </a:solidFill>
                <a:latin typeface="Arial"/>
                <a:ea typeface="Arial"/>
                <a:cs typeface="Arial"/>
              </a:rPr>
              <a:t>الجامعة الافتراضية السورية</a:t>
            </a:r>
          </a:p>
        </p:txBody>
      </p:sp>
      <p:sp>
        <p:nvSpPr>
          <p:cNvPr id="3" name="">
            <a:extLst xmlns:a="http://schemas.openxmlformats.org/drawingml/2006/main">
              <a:ext uri="{FF2B5EF4-FFF2-40B4-BE49-F238E27FC236}">
                <a16:creationId xmlns:a16="http://schemas.microsoft.com/office/drawing/2014/main" id="{B1182453-14D0-4D7E-B5AE-A772A5FDAC05}"/>
              </a:ext>
            </a:extLst>
          </p:cNvPr>
          <p:cNvSpPr>
            <a:spLocks xmlns:a="http://schemas.openxmlformats.org/drawingml/2006/main" noGrp="1"/>
          </p:cNvSpPr>
          <p:nvPr/>
        </p:nvSpPr>
        <p:spPr>
          <a:xfrm xmlns:a="http://schemas.openxmlformats.org/drawingml/2006/main">
            <a:off x="3286125" y="1428750"/>
            <a:ext cx="790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025" b="0">
                <a:solidFill>
                  <a:srgbClr val="172936"/>
                </a:solidFill>
                <a:latin typeface="Arial"/>
                <a:ea typeface="Arial"/>
                <a:cs typeface="Arial"/>
              </a:defRPr>
            </a:defPPr>
            <a:lvl1pPr algn="r">
              <a:defRPr sz="2025" b="0">
                <a:solidFill>
                  <a:srgbClr val="172936"/>
                </a:solidFill>
                <a:latin typeface="Arial"/>
                <a:ea typeface="Arial"/>
                <a:cs typeface="Arial"/>
              </a:defRPr>
            </a:lvl1pPr>
            <a:lvl2pPr algn="r">
              <a:defRPr sz="2025" b="0">
                <a:solidFill>
                  <a:srgbClr val="172936"/>
                </a:solidFill>
                <a:latin typeface="Arial"/>
                <a:ea typeface="Arial"/>
                <a:cs typeface="Arial"/>
              </a:defRPr>
            </a:lvl2pPr>
            <a:lvl3pPr algn="r">
              <a:defRPr sz="2025" b="0">
                <a:solidFill>
                  <a:srgbClr val="172936"/>
                </a:solidFill>
                <a:latin typeface="Arial"/>
                <a:ea typeface="Arial"/>
                <a:cs typeface="Arial"/>
              </a:defRPr>
            </a:lvl3pPr>
            <a:lvl4pPr algn="r">
              <a:defRPr sz="2025" b="0">
                <a:solidFill>
                  <a:srgbClr val="172936"/>
                </a:solidFill>
                <a:latin typeface="Arial"/>
                <a:ea typeface="Arial"/>
                <a:cs typeface="Arial"/>
              </a:defRPr>
            </a:lvl4pPr>
            <a:lvl5pPr algn="r">
              <a:defRPr sz="2025" b="0">
                <a:solidFill>
                  <a:srgbClr val="172936"/>
                </a:solidFill>
                <a:latin typeface="Arial"/>
                <a:ea typeface="Arial"/>
                <a:cs typeface="Arial"/>
              </a:defRPr>
            </a:lvl5pPr>
            <a:lvl6pPr algn="r">
              <a:defRPr sz="2025" b="0">
                <a:solidFill>
                  <a:srgbClr val="172936"/>
                </a:solidFill>
                <a:latin typeface="Arial"/>
                <a:ea typeface="Arial"/>
                <a:cs typeface="Arial"/>
              </a:defRPr>
            </a:lvl6pPr>
            <a:lvl7pPr algn="r">
              <a:defRPr sz="2025" b="0">
                <a:solidFill>
                  <a:srgbClr val="172936"/>
                </a:solidFill>
                <a:latin typeface="Arial"/>
                <a:ea typeface="Arial"/>
                <a:cs typeface="Arial"/>
              </a:defRPr>
            </a:lvl7pPr>
            <a:lvl8pPr algn="r">
              <a:defRPr sz="2025" b="0">
                <a:solidFill>
                  <a:srgbClr val="172936"/>
                </a:solidFill>
                <a:latin typeface="Arial"/>
                <a:ea typeface="Arial"/>
                <a:cs typeface="Arial"/>
              </a:defRPr>
            </a:lvl8pPr>
            <a:lvl9pPr algn="r">
              <a:defRPr sz="2025" b="0">
                <a:solidFill>
                  <a:srgbClr val="172936"/>
                </a:solidFill>
                <a:latin typeface="Arial"/>
                <a:ea typeface="Arial"/>
                <a:cs typeface="Arial"/>
              </a:defRPr>
            </a:lvl9pPr>
          </a:lstStyle>
          <a:p xmlns:a="http://schemas.openxmlformats.org/drawingml/2006/main">
            <a:pPr algn="r" rtl="0">
              <a:defRPr sz="2025" b="0" lang="en-US">
                <a:solidFill>
                  <a:srgbClr val="172936"/>
                </a:solidFill>
                <a:latin typeface="Arial"/>
                <a:ea typeface="Arial"/>
                <a:cs typeface="Arial"/>
              </a:defRPr>
            </a:pPr>
            <a:r>
              <a:rPr sz="2025" b="0" lang="en-US">
                <a:solidFill>
                  <a:srgbClr val="172936"/>
                </a:solidFill>
                <a:latin typeface="Arial"/>
                <a:ea typeface="Arial"/>
                <a:cs typeface="Arial"/>
              </a:rPr>
              <a:t>ANN601   F25</a:t>
            </a:r>
          </a:p>
        </p:txBody>
      </p:sp>
      <p:sp>
        <p:nvSpPr>
          <p:cNvPr id="4" name="">
            <a:extLst xmlns:a="http://schemas.openxmlformats.org/drawingml/2006/main">
              <a:ext uri="{FF2B5EF4-FFF2-40B4-BE49-F238E27FC236}">
                <a16:creationId xmlns:a16="http://schemas.microsoft.com/office/drawing/2014/main" id="{ECEC1E1C-E42C-4019-BDBC-AF74F4750F20}"/>
              </a:ext>
            </a:extLst>
          </p:cNvPr>
          <p:cNvSpPr>
            <a:spLocks xmlns:a="http://schemas.openxmlformats.org/drawingml/2006/main" noGrp="1"/>
          </p:cNvSpPr>
          <p:nvPr/>
        </p:nvSpPr>
        <p:spPr>
          <a:xfrm xmlns:a="http://schemas.openxmlformats.org/drawingml/2006/main">
            <a:off x="1714500" y="25717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4200" b="1">
                <a:solidFill>
                  <a:srgbClr val="172936"/>
                </a:solidFill>
                <a:latin typeface="Arial"/>
                <a:ea typeface="Arial"/>
                <a:cs typeface="Arial"/>
              </a:defRPr>
            </a:defPPr>
            <a:lvl1pPr algn="r">
              <a:defRPr sz="4200" b="1">
                <a:solidFill>
                  <a:srgbClr val="172936"/>
                </a:solidFill>
                <a:latin typeface="Arial"/>
                <a:ea typeface="Arial"/>
                <a:cs typeface="Arial"/>
              </a:defRPr>
            </a:lvl1pPr>
            <a:lvl2pPr algn="r">
              <a:defRPr sz="4200" b="1">
                <a:solidFill>
                  <a:srgbClr val="172936"/>
                </a:solidFill>
                <a:latin typeface="Arial"/>
                <a:ea typeface="Arial"/>
                <a:cs typeface="Arial"/>
              </a:defRPr>
            </a:lvl2pPr>
            <a:lvl3pPr algn="r">
              <a:defRPr sz="4200" b="1">
                <a:solidFill>
                  <a:srgbClr val="172936"/>
                </a:solidFill>
                <a:latin typeface="Arial"/>
                <a:ea typeface="Arial"/>
                <a:cs typeface="Arial"/>
              </a:defRPr>
            </a:lvl3pPr>
            <a:lvl4pPr algn="r">
              <a:defRPr sz="4200" b="1">
                <a:solidFill>
                  <a:srgbClr val="172936"/>
                </a:solidFill>
                <a:latin typeface="Arial"/>
                <a:ea typeface="Arial"/>
                <a:cs typeface="Arial"/>
              </a:defRPr>
            </a:lvl4pPr>
            <a:lvl5pPr algn="r">
              <a:defRPr sz="4200" b="1">
                <a:solidFill>
                  <a:srgbClr val="172936"/>
                </a:solidFill>
                <a:latin typeface="Arial"/>
                <a:ea typeface="Arial"/>
                <a:cs typeface="Arial"/>
              </a:defRPr>
            </a:lvl5pPr>
            <a:lvl6pPr algn="r">
              <a:defRPr sz="4200" b="1">
                <a:solidFill>
                  <a:srgbClr val="172936"/>
                </a:solidFill>
                <a:latin typeface="Arial"/>
                <a:ea typeface="Arial"/>
                <a:cs typeface="Arial"/>
              </a:defRPr>
            </a:lvl6pPr>
            <a:lvl7pPr algn="r">
              <a:defRPr sz="4200" b="1">
                <a:solidFill>
                  <a:srgbClr val="172936"/>
                </a:solidFill>
                <a:latin typeface="Arial"/>
                <a:ea typeface="Arial"/>
                <a:cs typeface="Arial"/>
              </a:defRPr>
            </a:lvl7pPr>
            <a:lvl8pPr algn="r">
              <a:defRPr sz="4200" b="1">
                <a:solidFill>
                  <a:srgbClr val="172936"/>
                </a:solidFill>
                <a:latin typeface="Arial"/>
                <a:ea typeface="Arial"/>
                <a:cs typeface="Arial"/>
              </a:defRPr>
            </a:lvl8pPr>
            <a:lvl9pPr algn="r">
              <a:defRPr sz="4200" b="1">
                <a:solidFill>
                  <a:srgbClr val="172936"/>
                </a:solidFill>
                <a:latin typeface="Arial"/>
                <a:ea typeface="Arial"/>
                <a:cs typeface="Arial"/>
              </a:defRPr>
            </a:lvl9pPr>
          </a:lstStyle>
          <a:p xmlns:a="http://schemas.openxmlformats.org/drawingml/2006/main">
            <a:pPr algn="r" rtl="1">
              <a:defRPr sz="4200" b="1" lang="ar-SA">
                <a:solidFill>
                  <a:srgbClr val="172936"/>
                </a:solidFill>
                <a:latin typeface="Arial"/>
                <a:ea typeface="Arial"/>
                <a:cs typeface="Arial"/>
              </a:defRPr>
            </a:pPr>
            <a:r>
              <a:rPr sz="4200" b="1" lang="ar-SA">
                <a:solidFill>
                  <a:srgbClr val="172936"/>
                </a:solidFill>
                <a:latin typeface="Arial"/>
                <a:ea typeface="Arial"/>
                <a:cs typeface="Arial"/>
              </a:rPr>
              <a:t>التنبؤ بالإصابة بمرض السكري</a:t>
            </a:r>
          </a:p>
          <a:p xmlns:a="http://schemas.openxmlformats.org/drawingml/2006/main">
            <a:pPr algn="r" rtl="1">
              <a:defRPr sz="4200" b="1" lang="ar-SA">
                <a:solidFill>
                  <a:srgbClr val="172936"/>
                </a:solidFill>
                <a:latin typeface="Arial"/>
                <a:ea typeface="Arial"/>
                <a:cs typeface="Arial"/>
              </a:defRPr>
            </a:pPr>
            <a:r>
              <a:rPr sz="4200" b="1" lang="ar-SA">
                <a:solidFill>
                  <a:srgbClr val="172936"/>
                </a:solidFill>
                <a:latin typeface="Arial"/>
                <a:ea typeface="Arial"/>
                <a:cs typeface="Arial"/>
              </a:rPr>
              <a:t>باستخدام الشبكات العصبونية</a:t>
            </a:r>
          </a:p>
        </p:txBody>
      </p:sp>
      <p:sp>
        <p:nvSpPr>
          <p:cNvPr id="5" name="">
            <a:extLst xmlns:a="http://schemas.openxmlformats.org/drawingml/2006/main">
              <a:ext uri="{FF2B5EF4-FFF2-40B4-BE49-F238E27FC236}">
                <a16:creationId xmlns:a16="http://schemas.microsoft.com/office/drawing/2014/main" id="{B95FDAD7-AD77-4226-8D1F-3E296F29E61E}"/>
              </a:ext>
            </a:extLst>
          </p:cNvPr>
          <p:cNvSpPr>
            <a:spLocks xmlns:a="http://schemas.openxmlformats.org/drawingml/2006/main" noGrp="1"/>
          </p:cNvSpPr>
          <p:nvPr/>
        </p:nvSpPr>
        <p:spPr>
          <a:xfrm xmlns:a="http://schemas.openxmlformats.org/drawingml/2006/main">
            <a:off x="1524000" y="485775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75" b="0">
                <a:solidFill>
                  <a:srgbClr val="172936"/>
                </a:solidFill>
                <a:latin typeface="Arial"/>
                <a:ea typeface="Arial"/>
                <a:cs typeface="Arial"/>
              </a:defRPr>
            </a:defPPr>
            <a:lvl1pPr algn="ctr">
              <a:defRPr sz="1875" b="0">
                <a:solidFill>
                  <a:srgbClr val="172936"/>
                </a:solidFill>
                <a:latin typeface="Arial"/>
                <a:ea typeface="Arial"/>
                <a:cs typeface="Arial"/>
              </a:defRPr>
            </a:lvl1pPr>
            <a:lvl2pPr algn="ctr">
              <a:defRPr sz="1875" b="0">
                <a:solidFill>
                  <a:srgbClr val="172936"/>
                </a:solidFill>
                <a:latin typeface="Arial"/>
                <a:ea typeface="Arial"/>
                <a:cs typeface="Arial"/>
              </a:defRPr>
            </a:lvl2pPr>
            <a:lvl3pPr algn="ctr">
              <a:defRPr sz="1875" b="0">
                <a:solidFill>
                  <a:srgbClr val="172936"/>
                </a:solidFill>
                <a:latin typeface="Arial"/>
                <a:ea typeface="Arial"/>
                <a:cs typeface="Arial"/>
              </a:defRPr>
            </a:lvl3pPr>
            <a:lvl4pPr algn="ctr">
              <a:defRPr sz="1875" b="0">
                <a:solidFill>
                  <a:srgbClr val="172936"/>
                </a:solidFill>
                <a:latin typeface="Arial"/>
                <a:ea typeface="Arial"/>
                <a:cs typeface="Arial"/>
              </a:defRPr>
            </a:lvl4pPr>
            <a:lvl5pPr algn="ctr">
              <a:defRPr sz="1875" b="0">
                <a:solidFill>
                  <a:srgbClr val="172936"/>
                </a:solidFill>
                <a:latin typeface="Arial"/>
                <a:ea typeface="Arial"/>
                <a:cs typeface="Arial"/>
              </a:defRPr>
            </a:lvl5pPr>
            <a:lvl6pPr algn="ctr">
              <a:defRPr sz="1875" b="0">
                <a:solidFill>
                  <a:srgbClr val="172936"/>
                </a:solidFill>
                <a:latin typeface="Arial"/>
                <a:ea typeface="Arial"/>
                <a:cs typeface="Arial"/>
              </a:defRPr>
            </a:lvl6pPr>
            <a:lvl7pPr algn="ctr">
              <a:defRPr sz="1875" b="0">
                <a:solidFill>
                  <a:srgbClr val="172936"/>
                </a:solidFill>
                <a:latin typeface="Arial"/>
                <a:ea typeface="Arial"/>
                <a:cs typeface="Arial"/>
              </a:defRPr>
            </a:lvl7pPr>
            <a:lvl8pPr algn="ctr">
              <a:defRPr sz="1875" b="0">
                <a:solidFill>
                  <a:srgbClr val="172936"/>
                </a:solidFill>
                <a:latin typeface="Arial"/>
                <a:ea typeface="Arial"/>
                <a:cs typeface="Arial"/>
              </a:defRPr>
            </a:lvl8pPr>
            <a:lvl9pPr algn="ctr">
              <a:defRPr sz="1875" b="0">
                <a:solidFill>
                  <a:srgbClr val="172936"/>
                </a:solidFill>
                <a:latin typeface="Arial"/>
                <a:ea typeface="Arial"/>
                <a:cs typeface="Arial"/>
              </a:defRPr>
            </a:lvl9pPr>
          </a:lstStyle>
          <a:p xmlns:a="http://schemas.openxmlformats.org/drawingml/2006/main">
            <a:pPr algn="ctr" rtl="0">
              <a:defRPr sz="1875" b="0" lang="en-US">
                <a:solidFill>
                  <a:srgbClr val="172936"/>
                </a:solidFill>
                <a:latin typeface="Arial"/>
                <a:ea typeface="Arial"/>
                <a:cs typeface="Arial"/>
              </a:defRPr>
            </a:pPr>
            <a:r>
              <a:rPr sz="1875" b="0" lang="en-US">
                <a:solidFill>
                  <a:srgbClr val="172936"/>
                </a:solidFill>
                <a:latin typeface="Arial"/>
                <a:ea typeface="Arial"/>
                <a:cs typeface="Arial"/>
              </a:rPr>
              <a:t>Abdulaziz_138385   Sherwan_232716</a:t>
            </a:r>
          </a:p>
          <a:p xmlns:a="http://schemas.openxmlformats.org/drawingml/2006/main">
            <a:pPr algn="ctr" rtl="0">
              <a:defRPr sz="1875" b="0" lang="en-US">
                <a:solidFill>
                  <a:srgbClr val="172936"/>
                </a:solidFill>
                <a:latin typeface="Arial"/>
                <a:ea typeface="Arial"/>
                <a:cs typeface="Arial"/>
              </a:defRPr>
            </a:pPr>
            <a:r>
              <a:rPr sz="1875" b="0" lang="en-US">
                <a:solidFill>
                  <a:srgbClr val="172936"/>
                </a:solidFill>
                <a:latin typeface="Arial"/>
                <a:ea typeface="Arial"/>
                <a:cs typeface="Arial"/>
              </a:rPr>
              <a:t>Tasneem_195386   Hazem_155300   Majd_155310</a:t>
            </a:r>
          </a:p>
        </p:txBody>
      </p:sp>
    </p:spTree>
    <p:extLst>
      <p:ext uri="{BB962C8B-B14F-4D97-AF65-F5344CB8AC3E}">
        <p14:creationId xmlns:p14="http://schemas.microsoft.com/office/powerpoint/2010/main" val="49285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2F9AE7-4FD2-4B74-AEB7-66DD5B40E061}"/>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مجموعة بيانات Pima</a:t>
            </a:r>
          </a:p>
        </p:txBody>
      </p:sp>
      <p:sp>
        <p:nvSpPr>
          <p:cNvPr id="2" name="">
            <a:extLst xmlns:a="http://schemas.openxmlformats.org/drawingml/2006/main">
              <a:ext uri="{FF2B5EF4-FFF2-40B4-BE49-F238E27FC236}">
                <a16:creationId xmlns:a16="http://schemas.microsoft.com/office/drawing/2014/main" id="{2A3365C2-1D98-4840-8114-5A5B5777EDC0}"/>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737AB69B-088D-4538-9457-DCC9A1D6DBFE}"/>
              </a:ext>
            </a:extLst>
          </p:cNvPr>
          <p:cNvSpPr>
            <a:spLocks xmlns:a="http://schemas.openxmlformats.org/drawingml/2006/main" noGrp="1"/>
          </p:cNvSpPr>
          <p:nvPr/>
        </p:nvSpPr>
        <p:spPr>
          <a:xfrm xmlns:a="http://schemas.openxmlformats.org/drawingml/2006/main">
            <a:off x="952500" y="19050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075" b="1">
                <a:solidFill>
                  <a:srgbClr val="172936"/>
                </a:solidFill>
                <a:latin typeface="Arial"/>
                <a:ea typeface="Arial"/>
                <a:cs typeface="Arial"/>
              </a:defRPr>
            </a:defPPr>
            <a:lvl1pPr algn="r">
              <a:defRPr sz="3075" b="1">
                <a:solidFill>
                  <a:srgbClr val="172936"/>
                </a:solidFill>
                <a:latin typeface="Arial"/>
                <a:ea typeface="Arial"/>
                <a:cs typeface="Arial"/>
              </a:defRPr>
            </a:lvl1pPr>
            <a:lvl2pPr algn="r">
              <a:defRPr sz="3075" b="1">
                <a:solidFill>
                  <a:srgbClr val="172936"/>
                </a:solidFill>
                <a:latin typeface="Arial"/>
                <a:ea typeface="Arial"/>
                <a:cs typeface="Arial"/>
              </a:defRPr>
            </a:lvl2pPr>
            <a:lvl3pPr algn="r">
              <a:defRPr sz="3075" b="1">
                <a:solidFill>
                  <a:srgbClr val="172936"/>
                </a:solidFill>
                <a:latin typeface="Arial"/>
                <a:ea typeface="Arial"/>
                <a:cs typeface="Arial"/>
              </a:defRPr>
            </a:lvl3pPr>
            <a:lvl4pPr algn="r">
              <a:defRPr sz="3075" b="1">
                <a:solidFill>
                  <a:srgbClr val="172936"/>
                </a:solidFill>
                <a:latin typeface="Arial"/>
                <a:ea typeface="Arial"/>
                <a:cs typeface="Arial"/>
              </a:defRPr>
            </a:lvl4pPr>
            <a:lvl5pPr algn="r">
              <a:defRPr sz="3075" b="1">
                <a:solidFill>
                  <a:srgbClr val="172936"/>
                </a:solidFill>
                <a:latin typeface="Arial"/>
                <a:ea typeface="Arial"/>
                <a:cs typeface="Arial"/>
              </a:defRPr>
            </a:lvl5pPr>
            <a:lvl6pPr algn="r">
              <a:defRPr sz="3075" b="1">
                <a:solidFill>
                  <a:srgbClr val="172936"/>
                </a:solidFill>
                <a:latin typeface="Arial"/>
                <a:ea typeface="Arial"/>
                <a:cs typeface="Arial"/>
              </a:defRPr>
            </a:lvl6pPr>
            <a:lvl7pPr algn="r">
              <a:defRPr sz="3075" b="1">
                <a:solidFill>
                  <a:srgbClr val="172936"/>
                </a:solidFill>
                <a:latin typeface="Arial"/>
                <a:ea typeface="Arial"/>
                <a:cs typeface="Arial"/>
              </a:defRPr>
            </a:lvl7pPr>
            <a:lvl8pPr algn="r">
              <a:defRPr sz="3075" b="1">
                <a:solidFill>
                  <a:srgbClr val="172936"/>
                </a:solidFill>
                <a:latin typeface="Arial"/>
                <a:ea typeface="Arial"/>
                <a:cs typeface="Arial"/>
              </a:defRPr>
            </a:lvl8pPr>
            <a:lvl9pPr algn="r">
              <a:defRPr sz="3075" b="1">
                <a:solidFill>
                  <a:srgbClr val="172936"/>
                </a:solidFill>
                <a:latin typeface="Arial"/>
                <a:ea typeface="Arial"/>
                <a:cs typeface="Arial"/>
              </a:defRPr>
            </a:lvl9pPr>
          </a:lstStyle>
          <a:p xmlns:a="http://schemas.openxmlformats.org/drawingml/2006/main">
            <a:pPr algn="r" rtl="1">
              <a:defRPr sz="3075" b="1" lang="ar-SA">
                <a:solidFill>
                  <a:srgbClr val="172936"/>
                </a:solidFill>
                <a:latin typeface="Arial"/>
                <a:ea typeface="Arial"/>
                <a:cs typeface="Arial"/>
              </a:defRPr>
            </a:pPr>
            <a:r>
              <a:rPr sz="3075" b="1" lang="ar-SA">
                <a:solidFill>
                  <a:srgbClr val="172936"/>
                </a:solidFill>
                <a:latin typeface="Arial"/>
                <a:ea typeface="Arial"/>
                <a:cs typeface="Arial"/>
              </a:rPr>
              <a:t>768 سجلا و8 ميزات لتصنيف ثنائي</a:t>
            </a:r>
          </a:p>
        </p:txBody>
      </p:sp>
      <p:sp>
        <p:nvSpPr>
          <p:cNvPr id="4" name="">
            <a:extLst xmlns:a="http://schemas.openxmlformats.org/drawingml/2006/main">
              <a:ext uri="{FF2B5EF4-FFF2-40B4-BE49-F238E27FC236}">
                <a16:creationId xmlns:a16="http://schemas.microsoft.com/office/drawing/2014/main" id="{DC038D84-C043-4A55-8F56-BE36C6722C96}"/>
              </a:ext>
            </a:extLst>
          </p:cNvPr>
          <p:cNvSpPr>
            <a:spLocks xmlns:a="http://schemas.openxmlformats.org/drawingml/2006/main" noGrp="1"/>
          </p:cNvSpPr>
          <p:nvPr/>
        </p:nvSpPr>
        <p:spPr>
          <a:xfrm xmlns:a="http://schemas.openxmlformats.org/drawingml/2006/main">
            <a:off x="952500" y="3048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الفئة 0: عددها 500     الفئة 1: عددها 268</a:t>
            </a:r>
          </a:p>
        </p:txBody>
      </p:sp>
      <p:sp>
        <p:nvSpPr>
          <p:cNvPr id="5" name="">
            <a:extLst xmlns:a="http://schemas.openxmlformats.org/drawingml/2006/main">
              <a:ext uri="{FF2B5EF4-FFF2-40B4-BE49-F238E27FC236}">
                <a16:creationId xmlns:a16="http://schemas.microsoft.com/office/drawing/2014/main" id="{EC63B4DB-D6AE-41FB-8796-767278F76D35}"/>
              </a:ext>
            </a:extLst>
          </p:cNvPr>
          <p:cNvSpPr>
            <a:spLocks xmlns:a="http://schemas.openxmlformats.org/drawingml/2006/main" noGrp="1"/>
          </p:cNvSpPr>
          <p:nvPr/>
        </p:nvSpPr>
        <p:spPr>
          <a:xfrm xmlns:a="http://schemas.openxmlformats.org/drawingml/2006/main">
            <a:off x="952500" y="3810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الحمل، الغلوكوز، ضغط الدم، سماكة الجلد</a:t>
            </a:r>
          </a:p>
        </p:txBody>
      </p:sp>
      <p:sp>
        <p:nvSpPr>
          <p:cNvPr id="6" name="">
            <a:extLst xmlns:a="http://schemas.openxmlformats.org/drawingml/2006/main">
              <a:ext uri="{FF2B5EF4-FFF2-40B4-BE49-F238E27FC236}">
                <a16:creationId xmlns:a16="http://schemas.microsoft.com/office/drawing/2014/main" id="{BC1AE274-063B-4050-A5FE-C1602D1C9E56}"/>
              </a:ext>
            </a:extLst>
          </p:cNvPr>
          <p:cNvSpPr>
            <a:spLocks xmlns:a="http://schemas.openxmlformats.org/drawingml/2006/main" noGrp="1"/>
          </p:cNvSpPr>
          <p:nvPr/>
        </p:nvSpPr>
        <p:spPr>
          <a:xfrm xmlns:a="http://schemas.openxmlformats.org/drawingml/2006/main">
            <a:off x="952500" y="4572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الأنسولين، مؤشر كتلة الجسم، مؤشر الوراثة، العمر</a:t>
            </a:r>
          </a:p>
        </p:txBody>
      </p:sp>
      <p:sp>
        <p:nvSpPr>
          <p:cNvPr id="7" name="">
            <a:extLst xmlns:a="http://schemas.openxmlformats.org/drawingml/2006/main">
              <a:ext uri="{FF2B5EF4-FFF2-40B4-BE49-F238E27FC236}">
                <a16:creationId xmlns:a16="http://schemas.microsoft.com/office/drawing/2014/main" id="{9DDC19CE-275B-4869-87F5-1EC8F82D9E93}"/>
              </a:ext>
            </a:extLst>
          </p:cNvPr>
          <p:cNvSpPr>
            <a:spLocks xmlns:a="http://schemas.openxmlformats.org/drawingml/2006/main" noGrp="1"/>
          </p:cNvSpPr>
          <p:nvPr/>
        </p:nvSpPr>
        <p:spPr>
          <a:xfrm xmlns:a="http://schemas.openxmlformats.org/drawingml/2006/main">
            <a:off x="952500" y="5334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إناث من أصول Pima بعمر 21 سنة فما فوق</a:t>
            </a:r>
          </a:p>
        </p:txBody>
      </p:sp>
    </p:spTree>
    <p:extLst>
      <p:ext uri="{BB962C8B-B14F-4D97-AF65-F5344CB8AC3E}">
        <p14:creationId xmlns:p14="http://schemas.microsoft.com/office/powerpoint/2010/main" val="14597906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B2296A-FA51-4C87-9D86-53A5F05B720F}"/>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القيم المفقودة</a:t>
            </a:r>
          </a:p>
        </p:txBody>
      </p:sp>
      <p:sp>
        <p:nvSpPr>
          <p:cNvPr id="2" name="">
            <a:extLst xmlns:a="http://schemas.openxmlformats.org/drawingml/2006/main">
              <a:ext uri="{FF2B5EF4-FFF2-40B4-BE49-F238E27FC236}">
                <a16:creationId xmlns:a16="http://schemas.microsoft.com/office/drawing/2014/main" id="{E4079CE7-BFCF-4972-8D67-9B8241C83416}"/>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129920A0-FDD7-43A2-B911-5A2C533EC8C9}"/>
              </a:ext>
            </a:extLst>
          </p:cNvPr>
          <p:cNvGraphicFramePr/>
          <p:nvPr/>
        </p:nvGraphicFramePr>
        <p:xfrm>
          <a:off xmlns:a="http://schemas.openxmlformats.org/drawingml/2006/main" x="1524000" y="1666875"/>
          <a:ext xmlns:a="http://schemas.openxmlformats.org/drawingml/2006/main" cx="9144000" cy="3333750"/>
        </p:xfrm>
        <a:graphic xmlns:a="http://schemas.openxmlformats.org/drawingml/2006/main">
          <a:graphicData uri="http://schemas.openxmlformats.org/drawingml/2006/table">
            <a:tbl>
              <a:tblPr/>
              <a:tblGrid>
                <a:gridCol w="4572000"/>
                <a:gridCol w="4572000"/>
              </a:tblGrid>
              <a:tr h="555625">
                <a:tc>
                  <a:txBody>
                    <a:bodyPr/>
                    <a:lstStyle/>
                    <a:p>
                      <a:pPr algn="ctr" rtl="1"/>
                      <a:r>
                        <a:rPr sz="2100" b="1" lang="ar-SA">
                          <a:solidFill>
                            <a:srgbClr val="172936"/>
                          </a:solidFill>
                          <a:latin typeface="Arial"/>
                          <a:ea typeface="Arial"/>
                          <a:cs typeface="Arial"/>
                        </a:rPr>
                        <a:t>عدد الأصفار</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الميزة</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555625">
                <a:tc>
                  <a:txBody>
                    <a:bodyPr/>
                    <a:lstStyle/>
                    <a:p>
                      <a:pPr algn="ctr" rtl="0"/>
                      <a:r>
                        <a:rPr sz="2100" b="0" lang="en-US">
                          <a:solidFill>
                            <a:srgbClr val="172936"/>
                          </a:solidFill>
                          <a:latin typeface="Arial"/>
                          <a:ea typeface="Arial"/>
                          <a:cs typeface="Arial"/>
                        </a:rPr>
                        <a:t>5</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Glucose</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55625">
                <a:tc>
                  <a:txBody>
                    <a:bodyPr/>
                    <a:lstStyle/>
                    <a:p>
                      <a:pPr algn="ctr" rtl="0"/>
                      <a:r>
                        <a:rPr sz="2100" b="0" lang="en-US">
                          <a:solidFill>
                            <a:srgbClr val="172936"/>
                          </a:solidFill>
                          <a:latin typeface="Arial"/>
                          <a:ea typeface="Arial"/>
                          <a:cs typeface="Arial"/>
                        </a:rPr>
                        <a:t>35</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BloodPressure</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55625">
                <a:tc>
                  <a:txBody>
                    <a:bodyPr/>
                    <a:lstStyle/>
                    <a:p>
                      <a:pPr algn="ctr" rtl="0"/>
                      <a:r>
                        <a:rPr sz="2100" b="0" lang="en-US">
                          <a:solidFill>
                            <a:srgbClr val="172936"/>
                          </a:solidFill>
                          <a:latin typeface="Arial"/>
                          <a:ea typeface="Arial"/>
                          <a:cs typeface="Arial"/>
                        </a:rPr>
                        <a:t>227</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SkinThickness</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55625">
                <a:tc>
                  <a:txBody>
                    <a:bodyPr/>
                    <a:lstStyle/>
                    <a:p>
                      <a:pPr algn="ctr" rtl="0"/>
                      <a:r>
                        <a:rPr sz="2100" b="0" lang="en-US">
                          <a:solidFill>
                            <a:srgbClr val="172936"/>
                          </a:solidFill>
                          <a:latin typeface="Arial"/>
                          <a:ea typeface="Arial"/>
                          <a:cs typeface="Arial"/>
                        </a:rPr>
                        <a:t>374</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Insulin</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55625">
                <a:tc>
                  <a:txBody>
                    <a:bodyPr/>
                    <a:lstStyle/>
                    <a:p>
                      <a:pPr algn="ctr" rtl="0"/>
                      <a:r>
                        <a:rPr sz="2100" b="0" lang="en-US">
                          <a:solidFill>
                            <a:srgbClr val="172936"/>
                          </a:solidFill>
                          <a:latin typeface="Arial"/>
                          <a:ea typeface="Arial"/>
                          <a:cs typeface="Arial"/>
                        </a:rPr>
                        <a:t>11</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BMI</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C270AB-60EA-4D1D-942A-FF86EA81D02E}"/>
              </a:ext>
            </a:extLst>
          </p:cNvPr>
          <p:cNvSpPr>
            <a:spLocks xmlns:a="http://schemas.openxmlformats.org/drawingml/2006/main" noGrp="1"/>
          </p:cNvSpPr>
          <p:nvPr/>
        </p:nvSpPr>
        <p:spPr>
          <a:xfrm xmlns:a="http://schemas.openxmlformats.org/drawingml/2006/main">
            <a:off x="1047750" y="538162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75" b="0">
                <a:solidFill>
                  <a:srgbClr val="172936"/>
                </a:solidFill>
                <a:latin typeface="Arial"/>
                <a:ea typeface="Arial"/>
                <a:cs typeface="Arial"/>
              </a:defRPr>
            </a:defPPr>
            <a:lvl1pPr algn="r">
              <a:defRPr sz="2175" b="0">
                <a:solidFill>
                  <a:srgbClr val="172936"/>
                </a:solidFill>
                <a:latin typeface="Arial"/>
                <a:ea typeface="Arial"/>
                <a:cs typeface="Arial"/>
              </a:defRPr>
            </a:lvl1pPr>
            <a:lvl2pPr algn="r">
              <a:defRPr sz="2175" b="0">
                <a:solidFill>
                  <a:srgbClr val="172936"/>
                </a:solidFill>
                <a:latin typeface="Arial"/>
                <a:ea typeface="Arial"/>
                <a:cs typeface="Arial"/>
              </a:defRPr>
            </a:lvl2pPr>
            <a:lvl3pPr algn="r">
              <a:defRPr sz="2175" b="0">
                <a:solidFill>
                  <a:srgbClr val="172936"/>
                </a:solidFill>
                <a:latin typeface="Arial"/>
                <a:ea typeface="Arial"/>
                <a:cs typeface="Arial"/>
              </a:defRPr>
            </a:lvl3pPr>
            <a:lvl4pPr algn="r">
              <a:defRPr sz="2175" b="0">
                <a:solidFill>
                  <a:srgbClr val="172936"/>
                </a:solidFill>
                <a:latin typeface="Arial"/>
                <a:ea typeface="Arial"/>
                <a:cs typeface="Arial"/>
              </a:defRPr>
            </a:lvl4pPr>
            <a:lvl5pPr algn="r">
              <a:defRPr sz="2175" b="0">
                <a:solidFill>
                  <a:srgbClr val="172936"/>
                </a:solidFill>
                <a:latin typeface="Arial"/>
                <a:ea typeface="Arial"/>
                <a:cs typeface="Arial"/>
              </a:defRPr>
            </a:lvl5pPr>
            <a:lvl6pPr algn="r">
              <a:defRPr sz="2175" b="0">
                <a:solidFill>
                  <a:srgbClr val="172936"/>
                </a:solidFill>
                <a:latin typeface="Arial"/>
                <a:ea typeface="Arial"/>
                <a:cs typeface="Arial"/>
              </a:defRPr>
            </a:lvl6pPr>
            <a:lvl7pPr algn="r">
              <a:defRPr sz="2175" b="0">
                <a:solidFill>
                  <a:srgbClr val="172936"/>
                </a:solidFill>
                <a:latin typeface="Arial"/>
                <a:ea typeface="Arial"/>
                <a:cs typeface="Arial"/>
              </a:defRPr>
            </a:lvl7pPr>
            <a:lvl8pPr algn="r">
              <a:defRPr sz="2175" b="0">
                <a:solidFill>
                  <a:srgbClr val="172936"/>
                </a:solidFill>
                <a:latin typeface="Arial"/>
                <a:ea typeface="Arial"/>
                <a:cs typeface="Arial"/>
              </a:defRPr>
            </a:lvl8pPr>
            <a:lvl9pPr algn="r">
              <a:defRPr sz="2175" b="0">
                <a:solidFill>
                  <a:srgbClr val="172936"/>
                </a:solidFill>
                <a:latin typeface="Arial"/>
                <a:ea typeface="Arial"/>
                <a:cs typeface="Arial"/>
              </a:defRPr>
            </a:lvl9pPr>
          </a:lstStyle>
          <a:p xmlns:a="http://schemas.openxmlformats.org/drawingml/2006/main">
            <a:pPr algn="r" rtl="1">
              <a:defRPr sz="2175" b="0" lang="ar-SA">
                <a:solidFill>
                  <a:srgbClr val="172936"/>
                </a:solidFill>
                <a:latin typeface="Arial"/>
                <a:ea typeface="Arial"/>
                <a:cs typeface="Arial"/>
              </a:defRPr>
            </a:pPr>
            <a:r>
              <a:rPr sz="2175" b="0" lang="ar-SA">
                <a:solidFill>
                  <a:srgbClr val="172936"/>
                </a:solidFill>
                <a:latin typeface="Arial"/>
                <a:ea typeface="Arial"/>
                <a:cs typeface="Arial"/>
              </a:rPr>
              <a:t>تعويض بوسيط التدريب فقط مع إبقاء الصفر في عدد مرات الحمل</a:t>
            </a:r>
          </a:p>
        </p:txBody>
      </p:sp>
    </p:spTree>
    <p:extLst>
      <p:ext uri="{BB962C8B-B14F-4D97-AF65-F5344CB8AC3E}">
        <p14:creationId xmlns:p14="http://schemas.microsoft.com/office/powerpoint/2010/main" val="373165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F312D6-F036-4D8A-9936-EB64ADEAF283}"/>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التقسيم ومنع تسريب البيانات</a:t>
            </a:r>
          </a:p>
        </p:txBody>
      </p:sp>
      <p:sp>
        <p:nvSpPr>
          <p:cNvPr id="2" name="">
            <a:extLst xmlns:a="http://schemas.openxmlformats.org/drawingml/2006/main">
              <a:ext uri="{FF2B5EF4-FFF2-40B4-BE49-F238E27FC236}">
                <a16:creationId xmlns:a16="http://schemas.microsoft.com/office/drawing/2014/main" id="{09B93676-9ED4-4173-9F96-754224111A5E}"/>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D26FF850-B16F-4631-90A8-02DB5B3A88D3}"/>
              </a:ext>
            </a:extLst>
          </p:cNvPr>
          <p:cNvGraphicFramePr/>
          <p:nvPr/>
        </p:nvGraphicFramePr>
        <p:xfrm>
          <a:off xmlns:a="http://schemas.openxmlformats.org/drawingml/2006/main" x="1143000" y="1809750"/>
          <a:ext xmlns:a="http://schemas.openxmlformats.org/drawingml/2006/main" cx="9906000" cy="2857500"/>
        </p:xfrm>
        <a:graphic xmlns:a="http://schemas.openxmlformats.org/drawingml/2006/main">
          <a:graphicData uri="http://schemas.openxmlformats.org/drawingml/2006/table">
            <a:tbl>
              <a:tblPr/>
              <a:tblGrid>
                <a:gridCol w="2476500"/>
                <a:gridCol w="2476500"/>
                <a:gridCol w="2476500"/>
                <a:gridCol w="2476500"/>
              </a:tblGrid>
              <a:tr h="714375">
                <a:tc>
                  <a:txBody>
                    <a:bodyPr/>
                    <a:lstStyle/>
                    <a:p>
                      <a:pPr algn="ctr" rtl="1"/>
                      <a:r>
                        <a:rPr sz="2100" b="1" lang="ar-SA">
                          <a:solidFill>
                            <a:srgbClr val="172936"/>
                          </a:solidFill>
                          <a:latin typeface="Arial"/>
                          <a:ea typeface="Arial"/>
                          <a:cs typeface="Arial"/>
                        </a:rPr>
                        <a:t>الفئة 1</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الفئة 0</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العدد</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القسم</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714375">
                <a:tc>
                  <a:txBody>
                    <a:bodyPr/>
                    <a:lstStyle/>
                    <a:p>
                      <a:pPr algn="ctr" rtl="0"/>
                      <a:r>
                        <a:rPr sz="2100" b="0" lang="en-US">
                          <a:solidFill>
                            <a:srgbClr val="172936"/>
                          </a:solidFill>
                          <a:latin typeface="Arial"/>
                          <a:ea typeface="Arial"/>
                          <a:cs typeface="Arial"/>
                        </a:rPr>
                        <a:t>160</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300</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460</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التدريب</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714375">
                <a:tc>
                  <a:txBody>
                    <a:bodyPr/>
                    <a:lstStyle/>
                    <a:p>
                      <a:pPr algn="ctr" rtl="0"/>
                      <a:r>
                        <a:rPr sz="2100" b="0" lang="en-US">
                          <a:solidFill>
                            <a:srgbClr val="172936"/>
                          </a:solidFill>
                          <a:latin typeface="Arial"/>
                          <a:ea typeface="Arial"/>
                          <a:cs typeface="Arial"/>
                        </a:rPr>
                        <a:t>54</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100</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154</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التحقق</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714375">
                <a:tc>
                  <a:txBody>
                    <a:bodyPr/>
                    <a:lstStyle/>
                    <a:p>
                      <a:pPr algn="ctr" rtl="0"/>
                      <a:r>
                        <a:rPr sz="2100" b="0" lang="en-US">
                          <a:solidFill>
                            <a:srgbClr val="172936"/>
                          </a:solidFill>
                          <a:latin typeface="Arial"/>
                          <a:ea typeface="Arial"/>
                          <a:cs typeface="Arial"/>
                        </a:rPr>
                        <a:t>54</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100</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154</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الاختبار</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DD169A6-F642-435F-ABD6-95BBC8C877F1}"/>
              </a:ext>
            </a:extLst>
          </p:cNvPr>
          <p:cNvSpPr>
            <a:spLocks xmlns:a="http://schemas.openxmlformats.org/drawingml/2006/main" noGrp="1"/>
          </p:cNvSpPr>
          <p:nvPr/>
        </p:nvSpPr>
        <p:spPr>
          <a:xfrm xmlns:a="http://schemas.openxmlformats.org/drawingml/2006/main">
            <a:off x="952500" y="490537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تقسيم طبقي ببذرة 42 ونسب تقارب 60% و20% و20%</a:t>
            </a:r>
          </a:p>
        </p:txBody>
      </p:sp>
      <p:sp>
        <p:nvSpPr>
          <p:cNvPr id="5" name="">
            <a:extLst xmlns:a="http://schemas.openxmlformats.org/drawingml/2006/main">
              <a:ext uri="{FF2B5EF4-FFF2-40B4-BE49-F238E27FC236}">
                <a16:creationId xmlns:a16="http://schemas.microsoft.com/office/drawing/2014/main" id="{04BD1B39-1643-4814-A2D5-A52E5D020FBB}"/>
              </a:ext>
            </a:extLst>
          </p:cNvPr>
          <p:cNvSpPr>
            <a:spLocks xmlns:a="http://schemas.openxmlformats.org/drawingml/2006/main" noGrp="1"/>
          </p:cNvSpPr>
          <p:nvPr/>
        </p:nvSpPr>
        <p:spPr>
          <a:xfrm xmlns:a="http://schemas.openxmlformats.org/drawingml/2006/main">
            <a:off x="952500" y="55245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250" b="0">
                <a:solidFill>
                  <a:srgbClr val="172936"/>
                </a:solidFill>
                <a:latin typeface="Arial"/>
                <a:ea typeface="Arial"/>
                <a:cs typeface="Arial"/>
              </a:defRPr>
            </a:defPPr>
            <a:lvl1pPr algn="r">
              <a:defRPr sz="2250" b="0">
                <a:solidFill>
                  <a:srgbClr val="172936"/>
                </a:solidFill>
                <a:latin typeface="Arial"/>
                <a:ea typeface="Arial"/>
                <a:cs typeface="Arial"/>
              </a:defRPr>
            </a:lvl1pPr>
            <a:lvl2pPr algn="r">
              <a:defRPr sz="2250" b="0">
                <a:solidFill>
                  <a:srgbClr val="172936"/>
                </a:solidFill>
                <a:latin typeface="Arial"/>
                <a:ea typeface="Arial"/>
                <a:cs typeface="Arial"/>
              </a:defRPr>
            </a:lvl2pPr>
            <a:lvl3pPr algn="r">
              <a:defRPr sz="2250" b="0">
                <a:solidFill>
                  <a:srgbClr val="172936"/>
                </a:solidFill>
                <a:latin typeface="Arial"/>
                <a:ea typeface="Arial"/>
                <a:cs typeface="Arial"/>
              </a:defRPr>
            </a:lvl3pPr>
            <a:lvl4pPr algn="r">
              <a:defRPr sz="2250" b="0">
                <a:solidFill>
                  <a:srgbClr val="172936"/>
                </a:solidFill>
                <a:latin typeface="Arial"/>
                <a:ea typeface="Arial"/>
                <a:cs typeface="Arial"/>
              </a:defRPr>
            </a:lvl4pPr>
            <a:lvl5pPr algn="r">
              <a:defRPr sz="2250" b="0">
                <a:solidFill>
                  <a:srgbClr val="172936"/>
                </a:solidFill>
                <a:latin typeface="Arial"/>
                <a:ea typeface="Arial"/>
                <a:cs typeface="Arial"/>
              </a:defRPr>
            </a:lvl5pPr>
            <a:lvl6pPr algn="r">
              <a:defRPr sz="2250" b="0">
                <a:solidFill>
                  <a:srgbClr val="172936"/>
                </a:solidFill>
                <a:latin typeface="Arial"/>
                <a:ea typeface="Arial"/>
                <a:cs typeface="Arial"/>
              </a:defRPr>
            </a:lvl6pPr>
            <a:lvl7pPr algn="r">
              <a:defRPr sz="2250" b="0">
                <a:solidFill>
                  <a:srgbClr val="172936"/>
                </a:solidFill>
                <a:latin typeface="Arial"/>
                <a:ea typeface="Arial"/>
                <a:cs typeface="Arial"/>
              </a:defRPr>
            </a:lvl7pPr>
            <a:lvl8pPr algn="r">
              <a:defRPr sz="2250" b="0">
                <a:solidFill>
                  <a:srgbClr val="172936"/>
                </a:solidFill>
                <a:latin typeface="Arial"/>
                <a:ea typeface="Arial"/>
                <a:cs typeface="Arial"/>
              </a:defRPr>
            </a:lvl8pPr>
            <a:lvl9pPr algn="r">
              <a:defRPr sz="2250" b="0">
                <a:solidFill>
                  <a:srgbClr val="172936"/>
                </a:solidFill>
                <a:latin typeface="Arial"/>
                <a:ea typeface="Arial"/>
                <a:cs typeface="Arial"/>
              </a:defRPr>
            </a:lvl9pPr>
          </a:lstStyle>
          <a:p xmlns:a="http://schemas.openxmlformats.org/drawingml/2006/main">
            <a:pPr algn="r" rtl="1">
              <a:defRPr sz="2250" b="0" lang="ar-SA">
                <a:solidFill>
                  <a:srgbClr val="172936"/>
                </a:solidFill>
                <a:latin typeface="Arial"/>
                <a:ea typeface="Arial"/>
                <a:cs typeface="Arial"/>
              </a:defRPr>
            </a:pPr>
            <a:r>
              <a:rPr sz="2250" b="0" lang="ar-SA">
                <a:solidFill>
                  <a:srgbClr val="172936"/>
                </a:solidFill>
                <a:latin typeface="Arial"/>
                <a:ea typeface="Arial"/>
                <a:cs typeface="Arial"/>
              </a:rPr>
              <a:t>وسيط التعويض ومتوسط وانحراف القياس من التدريب فقط</a:t>
            </a:r>
          </a:p>
        </p:txBody>
      </p:sp>
    </p:spTree>
    <p:extLst>
      <p:ext uri="{BB962C8B-B14F-4D97-AF65-F5344CB8AC3E}">
        <p14:creationId xmlns:p14="http://schemas.microsoft.com/office/powerpoint/2010/main" val="4339316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958997-B30D-4268-B586-B0C29BFA7A20}"/>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بنيتا الشبكتين</a:t>
            </a:r>
          </a:p>
        </p:txBody>
      </p:sp>
      <p:sp>
        <p:nvSpPr>
          <p:cNvPr id="2" name="">
            <a:extLst xmlns:a="http://schemas.openxmlformats.org/drawingml/2006/main">
              <a:ext uri="{FF2B5EF4-FFF2-40B4-BE49-F238E27FC236}">
                <a16:creationId xmlns:a16="http://schemas.microsoft.com/office/drawing/2014/main" id="{16E1AA1D-A18B-4B51-A4A2-B13FD56EE429}"/>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2C13E482-A307-4BB2-9BF1-6415C9179E1E}"/>
              </a:ext>
            </a:extLst>
          </p:cNvPr>
          <p:cNvGraphicFramePr/>
          <p:nvPr/>
        </p:nvGraphicFramePr>
        <p:xfrm>
          <a:off xmlns:a="http://schemas.openxmlformats.org/drawingml/2006/main" x="952500" y="1666875"/>
          <a:ext xmlns:a="http://schemas.openxmlformats.org/drawingml/2006/main" cx="10287000" cy="3095625"/>
        </p:xfrm>
        <a:graphic xmlns:a="http://schemas.openxmlformats.org/drawingml/2006/main">
          <a:graphicData uri="http://schemas.openxmlformats.org/drawingml/2006/table">
            <a:tbl>
              <a:tblPr/>
              <a:tblGrid>
                <a:gridCol w="3429000"/>
                <a:gridCol w="3429000"/>
                <a:gridCol w="3429000"/>
              </a:tblGrid>
              <a:tr h="619125">
                <a:tc>
                  <a:txBody>
                    <a:bodyPr/>
                    <a:lstStyle/>
                    <a:p>
                      <a:pPr algn="ctr" rtl="0"/>
                      <a:r>
                        <a:rPr sz="2100" b="1" lang="en-US">
                          <a:solidFill>
                            <a:srgbClr val="172936"/>
                          </a:solidFill>
                          <a:latin typeface="Arial"/>
                          <a:ea typeface="Arial"/>
                          <a:cs typeface="Arial"/>
                        </a:rPr>
                        <a:t>MLP_B</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MLP_A</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البند</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619125">
                <a:tc>
                  <a:txBody>
                    <a:bodyPr/>
                    <a:lstStyle/>
                    <a:p>
                      <a:pPr algn="ctr" rtl="0"/>
                      <a:r>
                        <a:rPr sz="2100" b="0" lang="en-US">
                          <a:solidFill>
                            <a:srgbClr val="172936"/>
                          </a:solidFill>
                          <a:latin typeface="Arial"/>
                          <a:ea typeface="Arial"/>
                          <a:cs typeface="Arial"/>
                        </a:rPr>
                        <a:t>8</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8</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المداخل</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619125">
                <a:tc>
                  <a:txBody>
                    <a:bodyPr/>
                    <a:lstStyle/>
                    <a:p>
                      <a:pPr algn="ctr" rtl="0"/>
                      <a:r>
                        <a:rPr sz="2100" b="0" lang="en-US">
                          <a:solidFill>
                            <a:srgbClr val="172936"/>
                          </a:solidFill>
                          <a:latin typeface="Arial"/>
                          <a:ea typeface="Arial"/>
                          <a:cs typeface="Arial"/>
                        </a:rPr>
                        <a:t>32, 16</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32</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الطبقات المخفية</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619125">
                <a:tc>
                  <a:txBody>
                    <a:bodyPr/>
                    <a:lstStyle/>
                    <a:p>
                      <a:pPr algn="ctr" rtl="0"/>
                      <a:r>
                        <a:rPr sz="2100" b="0" lang="en-US">
                          <a:solidFill>
                            <a:srgbClr val="172936"/>
                          </a:solidFill>
                          <a:latin typeface="Arial"/>
                          <a:ea typeface="Arial"/>
                          <a:cs typeface="Arial"/>
                        </a:rPr>
                        <a:t>1</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خرج Sigmoid</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619125">
                <a:tc>
                  <a:txBody>
                    <a:bodyPr/>
                    <a:lstStyle/>
                    <a:p>
                      <a:pPr algn="ctr" rtl="0"/>
                      <a:r>
                        <a:rPr sz="2100" b="0" lang="en-US">
                          <a:solidFill>
                            <a:srgbClr val="172936"/>
                          </a:solidFill>
                          <a:latin typeface="Arial"/>
                          <a:ea typeface="Arial"/>
                          <a:cs typeface="Arial"/>
                        </a:rPr>
                        <a:t>833</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321</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عدد المعاملات</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B8A296-1DDD-4AEE-98D1-F521FB368641}"/>
              </a:ext>
            </a:extLst>
          </p:cNvPr>
          <p:cNvSpPr>
            <a:spLocks xmlns:a="http://schemas.openxmlformats.org/drawingml/2006/main" noGrp="1"/>
          </p:cNvSpPr>
          <p:nvPr/>
        </p:nvSpPr>
        <p:spPr>
          <a:xfrm xmlns:a="http://schemas.openxmlformats.org/drawingml/2006/main">
            <a:off x="857250" y="5095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0">
                <a:solidFill>
                  <a:srgbClr val="172936"/>
                </a:solidFill>
                <a:latin typeface="Arial"/>
                <a:ea typeface="Arial"/>
                <a:cs typeface="Arial"/>
              </a:defRPr>
            </a:defPPr>
            <a:lvl1pPr algn="ctr">
              <a:defRPr sz="2175" b="0">
                <a:solidFill>
                  <a:srgbClr val="172936"/>
                </a:solidFill>
                <a:latin typeface="Arial"/>
                <a:ea typeface="Arial"/>
                <a:cs typeface="Arial"/>
              </a:defRPr>
            </a:lvl1pPr>
            <a:lvl2pPr algn="ctr">
              <a:defRPr sz="2175" b="0">
                <a:solidFill>
                  <a:srgbClr val="172936"/>
                </a:solidFill>
                <a:latin typeface="Arial"/>
                <a:ea typeface="Arial"/>
                <a:cs typeface="Arial"/>
              </a:defRPr>
            </a:lvl2pPr>
            <a:lvl3pPr algn="ctr">
              <a:defRPr sz="2175" b="0">
                <a:solidFill>
                  <a:srgbClr val="172936"/>
                </a:solidFill>
                <a:latin typeface="Arial"/>
                <a:ea typeface="Arial"/>
                <a:cs typeface="Arial"/>
              </a:defRPr>
            </a:lvl3pPr>
            <a:lvl4pPr algn="ctr">
              <a:defRPr sz="2175" b="0">
                <a:solidFill>
                  <a:srgbClr val="172936"/>
                </a:solidFill>
                <a:latin typeface="Arial"/>
                <a:ea typeface="Arial"/>
                <a:cs typeface="Arial"/>
              </a:defRPr>
            </a:lvl4pPr>
            <a:lvl5pPr algn="ctr">
              <a:defRPr sz="2175" b="0">
                <a:solidFill>
                  <a:srgbClr val="172936"/>
                </a:solidFill>
                <a:latin typeface="Arial"/>
                <a:ea typeface="Arial"/>
                <a:cs typeface="Arial"/>
              </a:defRPr>
            </a:lvl5pPr>
            <a:lvl6pPr algn="ctr">
              <a:defRPr sz="2175" b="0">
                <a:solidFill>
                  <a:srgbClr val="172936"/>
                </a:solidFill>
                <a:latin typeface="Arial"/>
                <a:ea typeface="Arial"/>
                <a:cs typeface="Arial"/>
              </a:defRPr>
            </a:lvl6pPr>
            <a:lvl7pPr algn="ctr">
              <a:defRPr sz="2175" b="0">
                <a:solidFill>
                  <a:srgbClr val="172936"/>
                </a:solidFill>
                <a:latin typeface="Arial"/>
                <a:ea typeface="Arial"/>
                <a:cs typeface="Arial"/>
              </a:defRPr>
            </a:lvl7pPr>
            <a:lvl8pPr algn="ctr">
              <a:defRPr sz="2175" b="0">
                <a:solidFill>
                  <a:srgbClr val="172936"/>
                </a:solidFill>
                <a:latin typeface="Arial"/>
                <a:ea typeface="Arial"/>
                <a:cs typeface="Arial"/>
              </a:defRPr>
            </a:lvl8pPr>
            <a:lvl9pPr algn="ctr">
              <a:defRPr sz="2175" b="0">
                <a:solidFill>
                  <a:srgbClr val="172936"/>
                </a:solidFill>
                <a:latin typeface="Arial"/>
                <a:ea typeface="Arial"/>
                <a:cs typeface="Arial"/>
              </a:defRPr>
            </a:lvl9pPr>
          </a:lstStyle>
          <a:p xmlns:a="http://schemas.openxmlformats.org/drawingml/2006/main">
            <a:pPr algn="ctr" rtl="0">
              <a:defRPr sz="2175" b="0" lang="en-US">
                <a:solidFill>
                  <a:srgbClr val="172936"/>
                </a:solidFill>
                <a:latin typeface="Arial"/>
                <a:ea typeface="Arial"/>
                <a:cs typeface="Arial"/>
              </a:defRPr>
            </a:pPr>
            <a:r>
              <a:rPr sz="2175" b="0" lang="en-US">
                <a:solidFill>
                  <a:srgbClr val="172936"/>
                </a:solidFill>
                <a:latin typeface="Arial"/>
                <a:ea typeface="Arial"/>
                <a:cs typeface="Arial"/>
              </a:rPr>
              <a:t>ReLU   /   Adam   /   Learning rate 0.001   /   Batch size 32</a:t>
            </a:r>
          </a:p>
        </p:txBody>
      </p:sp>
      <p:sp>
        <p:nvSpPr>
          <p:cNvPr id="5" name="">
            <a:extLst xmlns:a="http://schemas.openxmlformats.org/drawingml/2006/main">
              <a:ext uri="{FF2B5EF4-FFF2-40B4-BE49-F238E27FC236}">
                <a16:creationId xmlns:a16="http://schemas.microsoft.com/office/drawing/2014/main" id="{9946C603-AF0B-45F8-B3FA-68A35E59AFC7}"/>
              </a:ext>
            </a:extLst>
          </p:cNvPr>
          <p:cNvSpPr>
            <a:spLocks xmlns:a="http://schemas.openxmlformats.org/drawingml/2006/main" noGrp="1"/>
          </p:cNvSpPr>
          <p:nvPr/>
        </p:nvSpPr>
        <p:spPr>
          <a:xfrm xmlns:a="http://schemas.openxmlformats.org/drawingml/2006/main">
            <a:off x="952500" y="57150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75" b="0">
                <a:solidFill>
                  <a:srgbClr val="172936"/>
                </a:solidFill>
                <a:latin typeface="Arial"/>
                <a:ea typeface="Arial"/>
                <a:cs typeface="Arial"/>
              </a:defRPr>
            </a:defPPr>
            <a:lvl1pPr algn="r">
              <a:defRPr sz="2175" b="0">
                <a:solidFill>
                  <a:srgbClr val="172936"/>
                </a:solidFill>
                <a:latin typeface="Arial"/>
                <a:ea typeface="Arial"/>
                <a:cs typeface="Arial"/>
              </a:defRPr>
            </a:lvl1pPr>
            <a:lvl2pPr algn="r">
              <a:defRPr sz="2175" b="0">
                <a:solidFill>
                  <a:srgbClr val="172936"/>
                </a:solidFill>
                <a:latin typeface="Arial"/>
                <a:ea typeface="Arial"/>
                <a:cs typeface="Arial"/>
              </a:defRPr>
            </a:lvl2pPr>
            <a:lvl3pPr algn="r">
              <a:defRPr sz="2175" b="0">
                <a:solidFill>
                  <a:srgbClr val="172936"/>
                </a:solidFill>
                <a:latin typeface="Arial"/>
                <a:ea typeface="Arial"/>
                <a:cs typeface="Arial"/>
              </a:defRPr>
            </a:lvl3pPr>
            <a:lvl4pPr algn="r">
              <a:defRPr sz="2175" b="0">
                <a:solidFill>
                  <a:srgbClr val="172936"/>
                </a:solidFill>
                <a:latin typeface="Arial"/>
                <a:ea typeface="Arial"/>
                <a:cs typeface="Arial"/>
              </a:defRPr>
            </a:lvl4pPr>
            <a:lvl5pPr algn="r">
              <a:defRPr sz="2175" b="0">
                <a:solidFill>
                  <a:srgbClr val="172936"/>
                </a:solidFill>
                <a:latin typeface="Arial"/>
                <a:ea typeface="Arial"/>
                <a:cs typeface="Arial"/>
              </a:defRPr>
            </a:lvl5pPr>
            <a:lvl6pPr algn="r">
              <a:defRPr sz="2175" b="0">
                <a:solidFill>
                  <a:srgbClr val="172936"/>
                </a:solidFill>
                <a:latin typeface="Arial"/>
                <a:ea typeface="Arial"/>
                <a:cs typeface="Arial"/>
              </a:defRPr>
            </a:lvl6pPr>
            <a:lvl7pPr algn="r">
              <a:defRPr sz="2175" b="0">
                <a:solidFill>
                  <a:srgbClr val="172936"/>
                </a:solidFill>
                <a:latin typeface="Arial"/>
                <a:ea typeface="Arial"/>
                <a:cs typeface="Arial"/>
              </a:defRPr>
            </a:lvl7pPr>
            <a:lvl8pPr algn="r">
              <a:defRPr sz="2175" b="0">
                <a:solidFill>
                  <a:srgbClr val="172936"/>
                </a:solidFill>
                <a:latin typeface="Arial"/>
                <a:ea typeface="Arial"/>
                <a:cs typeface="Arial"/>
              </a:defRPr>
            </a:lvl8pPr>
            <a:lvl9pPr algn="r">
              <a:defRPr sz="2175" b="0">
                <a:solidFill>
                  <a:srgbClr val="172936"/>
                </a:solidFill>
                <a:latin typeface="Arial"/>
                <a:ea typeface="Arial"/>
                <a:cs typeface="Arial"/>
              </a:defRPr>
            </a:lvl9pPr>
          </a:lstStyle>
          <a:p xmlns:a="http://schemas.openxmlformats.org/drawingml/2006/main">
            <a:pPr algn="r" rtl="1">
              <a:defRPr sz="2175" b="0" lang="ar-SA">
                <a:solidFill>
                  <a:srgbClr val="172936"/>
                </a:solidFill>
                <a:latin typeface="Arial"/>
                <a:ea typeface="Arial"/>
                <a:cs typeface="Arial"/>
              </a:defRPr>
            </a:pPr>
            <a:r>
              <a:rPr sz="2175" b="0" lang="ar-SA">
                <a:solidFill>
                  <a:srgbClr val="172936"/>
                </a:solidFill>
                <a:latin typeface="Arial"/>
                <a:ea typeface="Arial"/>
                <a:cs typeface="Arial"/>
              </a:rPr>
              <a:t>عتبة ثابتة 0.5 وتنظيم للأوزان بمعامل 0.0001</a:t>
            </a:r>
          </a:p>
        </p:txBody>
      </p:sp>
    </p:spTree>
    <p:extLst>
      <p:ext uri="{BB962C8B-B14F-4D97-AF65-F5344CB8AC3E}">
        <p14:creationId xmlns:p14="http://schemas.microsoft.com/office/powerpoint/2010/main" val="4570219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3EC0FE-0F70-475A-82C1-B233BEB0374B}"/>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التدريب والتوقف المبكر</a:t>
            </a:r>
          </a:p>
        </p:txBody>
      </p:sp>
      <p:sp>
        <p:nvSpPr>
          <p:cNvPr id="2" name="">
            <a:extLst xmlns:a="http://schemas.openxmlformats.org/drawingml/2006/main">
              <a:ext uri="{FF2B5EF4-FFF2-40B4-BE49-F238E27FC236}">
                <a16:creationId xmlns:a16="http://schemas.microsoft.com/office/drawing/2014/main" id="{0A505A1E-0B3E-4AE6-8DF4-F93B53001BCA}"/>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6</a:t>
            </a:r>
          </a:p>
        </p:txBody>
      </p:sp>
      <p:pic>
        <p:nvPicPr>
          <p:cNvPr id="3" name="">
            <a:extLst xmlns:a="http://schemas.openxmlformats.org/drawingml/2006/main">
              <a:ext uri="{FF2B5EF4-FFF2-40B4-BE49-F238E27FC236}">
                <a16:creationId xmlns:a16="http://schemas.microsoft.com/office/drawing/2014/main" id="{A304360C-7BBC-403A-9282-F0E7AFFB6E58}"/>
              </a:ext>
            </a:extLst>
          </p:cNvPr>
          <p:cNvPicPr>
            <a:picLocks xmlns:a="http://schemas.openxmlformats.org/drawingml/2006/main" noChangeAspect="1"/>
          </p:cNvPicPr>
          <p:nvPr/>
        </p:nvPicPr>
        <p:blipFill>
          <a:blip xmlns:r="http://schemas.openxmlformats.org/officeDocument/2006/relationships" xmlns:a="http://schemas.openxmlformats.org/drawingml/2006/main" r:embed="R8d10ea87dccf40d1"/>
          <a:stretch xmlns:a="http://schemas.openxmlformats.org/drawingml/2006/main"/>
        </p:blipFill>
        <p:spPr>
          <a:xfrm xmlns:a="http://schemas.openxmlformats.org/drawingml/2006/main">
            <a:off x="714375" y="1666442"/>
            <a:ext cx="10763250" cy="362036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94B644-921F-4EB6-8C81-91E24472273A}"/>
              </a:ext>
            </a:extLst>
          </p:cNvPr>
          <p:cNvSpPr>
            <a:spLocks xmlns:a="http://schemas.openxmlformats.org/drawingml/2006/main" noGrp="1"/>
          </p:cNvSpPr>
          <p:nvPr/>
        </p:nvSpPr>
        <p:spPr>
          <a:xfrm xmlns:a="http://schemas.openxmlformats.org/drawingml/2006/main">
            <a:off x="952500" y="54768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75" b="0">
                <a:solidFill>
                  <a:srgbClr val="172936"/>
                </a:solidFill>
                <a:latin typeface="Arial"/>
                <a:ea typeface="Arial"/>
                <a:cs typeface="Arial"/>
              </a:defRPr>
            </a:defPPr>
            <a:lvl1pPr algn="r">
              <a:defRPr sz="2175" b="0">
                <a:solidFill>
                  <a:srgbClr val="172936"/>
                </a:solidFill>
                <a:latin typeface="Arial"/>
                <a:ea typeface="Arial"/>
                <a:cs typeface="Arial"/>
              </a:defRPr>
            </a:lvl1pPr>
            <a:lvl2pPr algn="r">
              <a:defRPr sz="2175" b="0">
                <a:solidFill>
                  <a:srgbClr val="172936"/>
                </a:solidFill>
                <a:latin typeface="Arial"/>
                <a:ea typeface="Arial"/>
                <a:cs typeface="Arial"/>
              </a:defRPr>
            </a:lvl2pPr>
            <a:lvl3pPr algn="r">
              <a:defRPr sz="2175" b="0">
                <a:solidFill>
                  <a:srgbClr val="172936"/>
                </a:solidFill>
                <a:latin typeface="Arial"/>
                <a:ea typeface="Arial"/>
                <a:cs typeface="Arial"/>
              </a:defRPr>
            </a:lvl3pPr>
            <a:lvl4pPr algn="r">
              <a:defRPr sz="2175" b="0">
                <a:solidFill>
                  <a:srgbClr val="172936"/>
                </a:solidFill>
                <a:latin typeface="Arial"/>
                <a:ea typeface="Arial"/>
                <a:cs typeface="Arial"/>
              </a:defRPr>
            </a:lvl4pPr>
            <a:lvl5pPr algn="r">
              <a:defRPr sz="2175" b="0">
                <a:solidFill>
                  <a:srgbClr val="172936"/>
                </a:solidFill>
                <a:latin typeface="Arial"/>
                <a:ea typeface="Arial"/>
                <a:cs typeface="Arial"/>
              </a:defRPr>
            </a:lvl5pPr>
            <a:lvl6pPr algn="r">
              <a:defRPr sz="2175" b="0">
                <a:solidFill>
                  <a:srgbClr val="172936"/>
                </a:solidFill>
                <a:latin typeface="Arial"/>
                <a:ea typeface="Arial"/>
                <a:cs typeface="Arial"/>
              </a:defRPr>
            </a:lvl6pPr>
            <a:lvl7pPr algn="r">
              <a:defRPr sz="2175" b="0">
                <a:solidFill>
                  <a:srgbClr val="172936"/>
                </a:solidFill>
                <a:latin typeface="Arial"/>
                <a:ea typeface="Arial"/>
                <a:cs typeface="Arial"/>
              </a:defRPr>
            </a:lvl7pPr>
            <a:lvl8pPr algn="r">
              <a:defRPr sz="2175" b="0">
                <a:solidFill>
                  <a:srgbClr val="172936"/>
                </a:solidFill>
                <a:latin typeface="Arial"/>
                <a:ea typeface="Arial"/>
                <a:cs typeface="Arial"/>
              </a:defRPr>
            </a:lvl8pPr>
            <a:lvl9pPr algn="r">
              <a:defRPr sz="2175" b="0">
                <a:solidFill>
                  <a:srgbClr val="172936"/>
                </a:solidFill>
                <a:latin typeface="Arial"/>
                <a:ea typeface="Arial"/>
                <a:cs typeface="Arial"/>
              </a:defRPr>
            </a:lvl9pPr>
          </a:lstStyle>
          <a:p xmlns:a="http://schemas.openxmlformats.org/drawingml/2006/main">
            <a:pPr algn="r" rtl="1">
              <a:defRPr sz="2175" b="0" lang="ar-SA">
                <a:solidFill>
                  <a:srgbClr val="172936"/>
                </a:solidFill>
                <a:latin typeface="Arial"/>
                <a:ea typeface="Arial"/>
                <a:cs typeface="Arial"/>
              </a:defRPr>
            </a:pPr>
            <a:r>
              <a:rPr sz="2175" b="0" lang="ar-SA">
                <a:solidFill>
                  <a:srgbClr val="172936"/>
                </a:solidFill>
                <a:latin typeface="Arial"/>
                <a:ea typeface="Arial"/>
                <a:cs typeface="Arial"/>
              </a:rPr>
              <a:t>أفضل دورة: 24 للأولى و15 للثانية مع حفظ أقل خسارة تحقق</a:t>
            </a:r>
          </a:p>
        </p:txBody>
      </p:sp>
    </p:spTree>
    <p:extLst>
      <p:ext uri="{BB962C8B-B14F-4D97-AF65-F5344CB8AC3E}">
        <p14:creationId xmlns:p14="http://schemas.microsoft.com/office/powerpoint/2010/main" val="2531840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3A330D-3A88-4BF9-93A0-059CB06749D4}"/>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اختيار النموذج على التحقق</a:t>
            </a:r>
          </a:p>
        </p:txBody>
      </p:sp>
      <p:sp>
        <p:nvSpPr>
          <p:cNvPr id="2" name="">
            <a:extLst xmlns:a="http://schemas.openxmlformats.org/drawingml/2006/main">
              <a:ext uri="{FF2B5EF4-FFF2-40B4-BE49-F238E27FC236}">
                <a16:creationId xmlns:a16="http://schemas.microsoft.com/office/drawing/2014/main" id="{982B1B9C-82A7-4C65-897F-8EA1740F2C9A}"/>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F6FB6537-3766-4348-9351-CD1516A4F7D8}"/>
              </a:ext>
            </a:extLst>
          </p:cNvPr>
          <p:cNvGraphicFramePr/>
          <p:nvPr/>
        </p:nvGraphicFramePr>
        <p:xfrm>
          <a:off xmlns:a="http://schemas.openxmlformats.org/drawingml/2006/main" x="1143000" y="1857375"/>
          <a:ext xmlns:a="http://schemas.openxmlformats.org/drawingml/2006/main" cx="9906000" cy="2667000"/>
        </p:xfrm>
        <a:graphic xmlns:a="http://schemas.openxmlformats.org/drawingml/2006/main">
          <a:graphicData uri="http://schemas.openxmlformats.org/drawingml/2006/table">
            <a:tbl>
              <a:tblPr/>
              <a:tblGrid>
                <a:gridCol w="3302000"/>
                <a:gridCol w="3302000"/>
                <a:gridCol w="3302000"/>
              </a:tblGrid>
              <a:tr h="666750">
                <a:tc>
                  <a:txBody>
                    <a:bodyPr/>
                    <a:lstStyle/>
                    <a:p>
                      <a:pPr algn="ctr" rtl="0"/>
                      <a:r>
                        <a:rPr sz="2100" b="1" lang="en-US">
                          <a:solidFill>
                            <a:srgbClr val="172936"/>
                          </a:solidFill>
                          <a:latin typeface="Arial"/>
                          <a:ea typeface="Arial"/>
                          <a:cs typeface="Arial"/>
                        </a:rPr>
                        <a:t>MLP_B</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MLP_A</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المقياس</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666750">
                <a:tc>
                  <a:txBody>
                    <a:bodyPr/>
                    <a:lstStyle/>
                    <a:p>
                      <a:pPr algn="ctr" rtl="0"/>
                      <a:r>
                        <a:rPr sz="2100" b="0" lang="en-US">
                          <a:solidFill>
                            <a:srgbClr val="172936"/>
                          </a:solidFill>
                          <a:latin typeface="Arial"/>
                          <a:ea typeface="Arial"/>
                          <a:cs typeface="Arial"/>
                        </a:rPr>
                        <a:t>0.416266</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0.418626</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خسارة التحقق</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666750">
                <a:tc>
                  <a:txBody>
                    <a:bodyPr/>
                    <a:lstStyle/>
                    <a:p>
                      <a:pPr algn="ctr" rtl="0"/>
                      <a:r>
                        <a:rPr sz="2100" b="0" lang="en-US">
                          <a:solidFill>
                            <a:srgbClr val="172936"/>
                          </a:solidFill>
                          <a:latin typeface="Arial"/>
                          <a:ea typeface="Arial"/>
                          <a:cs typeface="Arial"/>
                        </a:rPr>
                        <a:t>79.87%</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79.22%</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دقة التحقق</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666750">
                <a:tc>
                  <a:txBody>
                    <a:bodyPr/>
                    <a:lstStyle/>
                    <a:p>
                      <a:pPr algn="ctr" rtl="0"/>
                      <a:r>
                        <a:rPr sz="2100" b="0" lang="en-US">
                          <a:solidFill>
                            <a:srgbClr val="172936"/>
                          </a:solidFill>
                          <a:latin typeface="Arial"/>
                          <a:ea typeface="Arial"/>
                          <a:cs typeface="Arial"/>
                        </a:rPr>
                        <a:t>15</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24</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1"/>
                      <a:r>
                        <a:rPr sz="2100" b="0" lang="ar-SA">
                          <a:solidFill>
                            <a:srgbClr val="172936"/>
                          </a:solidFill>
                          <a:latin typeface="Arial"/>
                          <a:ea typeface="Arial"/>
                          <a:cs typeface="Arial"/>
                        </a:rPr>
                        <a:t>أفضل دورة</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20651F0-CF5F-46CE-B59B-14D5B28F2D40}"/>
              </a:ext>
            </a:extLst>
          </p:cNvPr>
          <p:cNvSpPr>
            <a:spLocks xmlns:a="http://schemas.openxmlformats.org/drawingml/2006/main" noGrp="1"/>
          </p:cNvSpPr>
          <p:nvPr/>
        </p:nvSpPr>
        <p:spPr>
          <a:xfrm xmlns:a="http://schemas.openxmlformats.org/drawingml/2006/main">
            <a:off x="952500" y="49053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700" b="1">
                <a:solidFill>
                  <a:srgbClr val="172936"/>
                </a:solidFill>
                <a:latin typeface="Arial"/>
                <a:ea typeface="Arial"/>
                <a:cs typeface="Arial"/>
              </a:defRPr>
            </a:defPPr>
            <a:lvl1pPr algn="r">
              <a:defRPr sz="2700" b="1">
                <a:solidFill>
                  <a:srgbClr val="172936"/>
                </a:solidFill>
                <a:latin typeface="Arial"/>
                <a:ea typeface="Arial"/>
                <a:cs typeface="Arial"/>
              </a:defRPr>
            </a:lvl1pPr>
            <a:lvl2pPr algn="r">
              <a:defRPr sz="2700" b="1">
                <a:solidFill>
                  <a:srgbClr val="172936"/>
                </a:solidFill>
                <a:latin typeface="Arial"/>
                <a:ea typeface="Arial"/>
                <a:cs typeface="Arial"/>
              </a:defRPr>
            </a:lvl2pPr>
            <a:lvl3pPr algn="r">
              <a:defRPr sz="2700" b="1">
                <a:solidFill>
                  <a:srgbClr val="172936"/>
                </a:solidFill>
                <a:latin typeface="Arial"/>
                <a:ea typeface="Arial"/>
                <a:cs typeface="Arial"/>
              </a:defRPr>
            </a:lvl3pPr>
            <a:lvl4pPr algn="r">
              <a:defRPr sz="2700" b="1">
                <a:solidFill>
                  <a:srgbClr val="172936"/>
                </a:solidFill>
                <a:latin typeface="Arial"/>
                <a:ea typeface="Arial"/>
                <a:cs typeface="Arial"/>
              </a:defRPr>
            </a:lvl4pPr>
            <a:lvl5pPr algn="r">
              <a:defRPr sz="2700" b="1">
                <a:solidFill>
                  <a:srgbClr val="172936"/>
                </a:solidFill>
                <a:latin typeface="Arial"/>
                <a:ea typeface="Arial"/>
                <a:cs typeface="Arial"/>
              </a:defRPr>
            </a:lvl5pPr>
            <a:lvl6pPr algn="r">
              <a:defRPr sz="2700" b="1">
                <a:solidFill>
                  <a:srgbClr val="172936"/>
                </a:solidFill>
                <a:latin typeface="Arial"/>
                <a:ea typeface="Arial"/>
                <a:cs typeface="Arial"/>
              </a:defRPr>
            </a:lvl6pPr>
            <a:lvl7pPr algn="r">
              <a:defRPr sz="2700" b="1">
                <a:solidFill>
                  <a:srgbClr val="172936"/>
                </a:solidFill>
                <a:latin typeface="Arial"/>
                <a:ea typeface="Arial"/>
                <a:cs typeface="Arial"/>
              </a:defRPr>
            </a:lvl7pPr>
            <a:lvl8pPr algn="r">
              <a:defRPr sz="2700" b="1">
                <a:solidFill>
                  <a:srgbClr val="172936"/>
                </a:solidFill>
                <a:latin typeface="Arial"/>
                <a:ea typeface="Arial"/>
                <a:cs typeface="Arial"/>
              </a:defRPr>
            </a:lvl8pPr>
            <a:lvl9pPr algn="r">
              <a:defRPr sz="2700" b="1">
                <a:solidFill>
                  <a:srgbClr val="172936"/>
                </a:solidFill>
                <a:latin typeface="Arial"/>
                <a:ea typeface="Arial"/>
                <a:cs typeface="Arial"/>
              </a:defRPr>
            </a:lvl9pPr>
          </a:lstStyle>
          <a:p xmlns:a="http://schemas.openxmlformats.org/drawingml/2006/main">
            <a:pPr algn="r" rtl="1">
              <a:defRPr sz="2700" b="1" lang="ar-SA">
                <a:solidFill>
                  <a:srgbClr val="172936"/>
                </a:solidFill>
                <a:latin typeface="Arial"/>
                <a:ea typeface="Arial"/>
                <a:cs typeface="Arial"/>
              </a:defRPr>
            </a:pPr>
            <a:r>
              <a:rPr sz="2700" b="1" lang="ar-SA">
                <a:solidFill>
                  <a:srgbClr val="172936"/>
                </a:solidFill>
                <a:latin typeface="Arial"/>
                <a:ea typeface="Arial"/>
                <a:cs typeface="Arial"/>
              </a:rPr>
              <a:t>اختيار MLP_B قبل حساب نتائج الاختبار</a:t>
            </a:r>
          </a:p>
        </p:txBody>
      </p:sp>
      <p:sp>
        <p:nvSpPr>
          <p:cNvPr id="5" name="">
            <a:extLst xmlns:a="http://schemas.openxmlformats.org/drawingml/2006/main">
              <a:ext uri="{FF2B5EF4-FFF2-40B4-BE49-F238E27FC236}">
                <a16:creationId xmlns:a16="http://schemas.microsoft.com/office/drawing/2014/main" id="{02FDCC38-4E82-44B9-9260-BD3B028DEDEA}"/>
              </a:ext>
            </a:extLst>
          </p:cNvPr>
          <p:cNvSpPr>
            <a:spLocks xmlns:a="http://schemas.openxmlformats.org/drawingml/2006/main" noGrp="1"/>
          </p:cNvSpPr>
          <p:nvPr/>
        </p:nvSpPr>
        <p:spPr>
          <a:xfrm xmlns:a="http://schemas.openxmlformats.org/drawingml/2006/main">
            <a:off x="952500" y="5619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75" b="0">
                <a:solidFill>
                  <a:srgbClr val="172936"/>
                </a:solidFill>
                <a:latin typeface="Arial"/>
                <a:ea typeface="Arial"/>
                <a:cs typeface="Arial"/>
              </a:defRPr>
            </a:defPPr>
            <a:lvl1pPr algn="r">
              <a:defRPr sz="2175" b="0">
                <a:solidFill>
                  <a:srgbClr val="172936"/>
                </a:solidFill>
                <a:latin typeface="Arial"/>
                <a:ea typeface="Arial"/>
                <a:cs typeface="Arial"/>
              </a:defRPr>
            </a:lvl1pPr>
            <a:lvl2pPr algn="r">
              <a:defRPr sz="2175" b="0">
                <a:solidFill>
                  <a:srgbClr val="172936"/>
                </a:solidFill>
                <a:latin typeface="Arial"/>
                <a:ea typeface="Arial"/>
                <a:cs typeface="Arial"/>
              </a:defRPr>
            </a:lvl2pPr>
            <a:lvl3pPr algn="r">
              <a:defRPr sz="2175" b="0">
                <a:solidFill>
                  <a:srgbClr val="172936"/>
                </a:solidFill>
                <a:latin typeface="Arial"/>
                <a:ea typeface="Arial"/>
                <a:cs typeface="Arial"/>
              </a:defRPr>
            </a:lvl3pPr>
            <a:lvl4pPr algn="r">
              <a:defRPr sz="2175" b="0">
                <a:solidFill>
                  <a:srgbClr val="172936"/>
                </a:solidFill>
                <a:latin typeface="Arial"/>
                <a:ea typeface="Arial"/>
                <a:cs typeface="Arial"/>
              </a:defRPr>
            </a:lvl4pPr>
            <a:lvl5pPr algn="r">
              <a:defRPr sz="2175" b="0">
                <a:solidFill>
                  <a:srgbClr val="172936"/>
                </a:solidFill>
                <a:latin typeface="Arial"/>
                <a:ea typeface="Arial"/>
                <a:cs typeface="Arial"/>
              </a:defRPr>
            </a:lvl5pPr>
            <a:lvl6pPr algn="r">
              <a:defRPr sz="2175" b="0">
                <a:solidFill>
                  <a:srgbClr val="172936"/>
                </a:solidFill>
                <a:latin typeface="Arial"/>
                <a:ea typeface="Arial"/>
                <a:cs typeface="Arial"/>
              </a:defRPr>
            </a:lvl6pPr>
            <a:lvl7pPr algn="r">
              <a:defRPr sz="2175" b="0">
                <a:solidFill>
                  <a:srgbClr val="172936"/>
                </a:solidFill>
                <a:latin typeface="Arial"/>
                <a:ea typeface="Arial"/>
                <a:cs typeface="Arial"/>
              </a:defRPr>
            </a:lvl7pPr>
            <a:lvl8pPr algn="r">
              <a:defRPr sz="2175" b="0">
                <a:solidFill>
                  <a:srgbClr val="172936"/>
                </a:solidFill>
                <a:latin typeface="Arial"/>
                <a:ea typeface="Arial"/>
                <a:cs typeface="Arial"/>
              </a:defRPr>
            </a:lvl8pPr>
            <a:lvl9pPr algn="r">
              <a:defRPr sz="2175" b="0">
                <a:solidFill>
                  <a:srgbClr val="172936"/>
                </a:solidFill>
                <a:latin typeface="Arial"/>
                <a:ea typeface="Arial"/>
                <a:cs typeface="Arial"/>
              </a:defRPr>
            </a:lvl9pPr>
          </a:lstStyle>
          <a:p xmlns:a="http://schemas.openxmlformats.org/drawingml/2006/main">
            <a:pPr algn="r" rtl="1">
              <a:defRPr sz="2175" b="0" lang="ar-SA">
                <a:solidFill>
                  <a:srgbClr val="172936"/>
                </a:solidFill>
                <a:latin typeface="Arial"/>
                <a:ea typeface="Arial"/>
                <a:cs typeface="Arial"/>
              </a:defRPr>
            </a:pPr>
            <a:r>
              <a:rPr sz="2175" b="0" lang="ar-SA">
                <a:solidFill>
                  <a:srgbClr val="172936"/>
                </a:solidFill>
                <a:latin typeface="Arial"/>
                <a:ea typeface="Arial"/>
                <a:cs typeface="Arial"/>
              </a:rPr>
              <a:t>الفارق صغير والقرار مبني على خسارة التحقق فقط</a:t>
            </a:r>
          </a:p>
        </p:txBody>
      </p:sp>
    </p:spTree>
    <p:extLst>
      <p:ext uri="{BB962C8B-B14F-4D97-AF65-F5344CB8AC3E}">
        <p14:creationId xmlns:p14="http://schemas.microsoft.com/office/powerpoint/2010/main" val="369135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930148-F1AE-4EF9-BA27-9E607FFF5EBA}"/>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المقارنة على الاختبار</a:t>
            </a:r>
          </a:p>
        </p:txBody>
      </p:sp>
      <p:sp>
        <p:nvSpPr>
          <p:cNvPr id="2" name="">
            <a:extLst xmlns:a="http://schemas.openxmlformats.org/drawingml/2006/main">
              <a:ext uri="{FF2B5EF4-FFF2-40B4-BE49-F238E27FC236}">
                <a16:creationId xmlns:a16="http://schemas.microsoft.com/office/drawing/2014/main" id="{7BB27F14-1BC7-4280-B539-2F9AD0166CD1}"/>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D7CCEA0B-B1CB-431F-AE9E-FAF1CC2AB01A}"/>
              </a:ext>
            </a:extLst>
          </p:cNvPr>
          <p:cNvGraphicFramePr/>
          <p:nvPr/>
        </p:nvGraphicFramePr>
        <p:xfrm>
          <a:off xmlns:a="http://schemas.openxmlformats.org/drawingml/2006/main" x="1143000" y="1714500"/>
          <a:ext xmlns:a="http://schemas.openxmlformats.org/drawingml/2006/main" cx="9906000" cy="3429000"/>
        </p:xfrm>
        <a:graphic xmlns:a="http://schemas.openxmlformats.org/drawingml/2006/main">
          <a:graphicData uri="http://schemas.openxmlformats.org/drawingml/2006/table">
            <a:tbl>
              <a:tblPr/>
              <a:tblGrid>
                <a:gridCol w="3302000"/>
                <a:gridCol w="3302000"/>
                <a:gridCol w="3302000"/>
              </a:tblGrid>
              <a:tr h="571500">
                <a:tc>
                  <a:txBody>
                    <a:bodyPr/>
                    <a:lstStyle/>
                    <a:p>
                      <a:pPr algn="ctr" rtl="0"/>
                      <a:r>
                        <a:rPr sz="2100" b="1" lang="en-US">
                          <a:solidFill>
                            <a:srgbClr val="172936"/>
                          </a:solidFill>
                          <a:latin typeface="Arial"/>
                          <a:ea typeface="Arial"/>
                          <a:cs typeface="Arial"/>
                        </a:rPr>
                        <a:t>MLP_B</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MLP_A</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1"/>
                      <a:r>
                        <a:rPr sz="2100" b="1" lang="ar-SA">
                          <a:solidFill>
                            <a:srgbClr val="172936"/>
                          </a:solidFill>
                          <a:latin typeface="Arial"/>
                          <a:ea typeface="Arial"/>
                          <a:cs typeface="Arial"/>
                        </a:rPr>
                        <a:t>المقياس</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571500">
                <a:tc>
                  <a:txBody>
                    <a:bodyPr/>
                    <a:lstStyle/>
                    <a:p>
                      <a:pPr algn="ctr" rtl="0"/>
                      <a:r>
                        <a:rPr sz="2100" b="0" lang="en-US">
                          <a:solidFill>
                            <a:srgbClr val="172936"/>
                          </a:solidFill>
                          <a:latin typeface="Arial"/>
                          <a:ea typeface="Arial"/>
                          <a:cs typeface="Arial"/>
                        </a:rPr>
                        <a:t>71.43%</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69.48%</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Accuracy</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71500">
                <a:tc>
                  <a:txBody>
                    <a:bodyPr/>
                    <a:lstStyle/>
                    <a:p>
                      <a:pPr algn="ctr" rtl="0"/>
                      <a:r>
                        <a:rPr sz="2100" b="0" lang="en-US">
                          <a:solidFill>
                            <a:srgbClr val="172936"/>
                          </a:solidFill>
                          <a:latin typeface="Arial"/>
                          <a:ea typeface="Arial"/>
                          <a:cs typeface="Arial"/>
                        </a:rPr>
                        <a:t>60.87%</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58.14%</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Precision</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71500">
                <a:tc>
                  <a:txBody>
                    <a:bodyPr/>
                    <a:lstStyle/>
                    <a:p>
                      <a:pPr algn="ctr" rtl="0"/>
                      <a:r>
                        <a:rPr sz="2100" b="0" lang="en-US">
                          <a:solidFill>
                            <a:srgbClr val="172936"/>
                          </a:solidFill>
                          <a:latin typeface="Arial"/>
                          <a:ea typeface="Arial"/>
                          <a:cs typeface="Arial"/>
                        </a:rPr>
                        <a:t>51.85%</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46.30%</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Recall</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71500">
                <a:tc>
                  <a:txBody>
                    <a:bodyPr/>
                    <a:lstStyle/>
                    <a:p>
                      <a:pPr algn="ctr" rtl="0"/>
                      <a:r>
                        <a:rPr sz="2100" b="0" lang="en-US">
                          <a:solidFill>
                            <a:srgbClr val="172936"/>
                          </a:solidFill>
                          <a:latin typeface="Arial"/>
                          <a:ea typeface="Arial"/>
                          <a:cs typeface="Arial"/>
                        </a:rPr>
                        <a:t>0.5600</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0.5155</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F1</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571500">
                <a:tc>
                  <a:txBody>
                    <a:bodyPr/>
                    <a:lstStyle/>
                    <a:p>
                      <a:pPr algn="ctr" rtl="0"/>
                      <a:r>
                        <a:rPr sz="2100" b="0" lang="en-US">
                          <a:solidFill>
                            <a:srgbClr val="172936"/>
                          </a:solidFill>
                          <a:latin typeface="Arial"/>
                          <a:ea typeface="Arial"/>
                          <a:cs typeface="Arial"/>
                        </a:rPr>
                        <a:t>0.500766</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0.495569</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Test log loss</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A16643B-E865-4D38-928F-72B2EC684D86}"/>
              </a:ext>
            </a:extLst>
          </p:cNvPr>
          <p:cNvSpPr>
            <a:spLocks xmlns:a="http://schemas.openxmlformats.org/drawingml/2006/main" noGrp="1"/>
          </p:cNvSpPr>
          <p:nvPr/>
        </p:nvSpPr>
        <p:spPr>
          <a:xfrm xmlns:a="http://schemas.openxmlformats.org/drawingml/2006/main">
            <a:off x="904875" y="55245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00" b="0">
                <a:solidFill>
                  <a:srgbClr val="172936"/>
                </a:solidFill>
                <a:latin typeface="Arial"/>
                <a:ea typeface="Arial"/>
                <a:cs typeface="Arial"/>
              </a:defRPr>
            </a:defPPr>
            <a:lvl1pPr algn="r">
              <a:defRPr sz="2100" b="0">
                <a:solidFill>
                  <a:srgbClr val="172936"/>
                </a:solidFill>
                <a:latin typeface="Arial"/>
                <a:ea typeface="Arial"/>
                <a:cs typeface="Arial"/>
              </a:defRPr>
            </a:lvl1pPr>
            <a:lvl2pPr algn="r">
              <a:defRPr sz="2100" b="0">
                <a:solidFill>
                  <a:srgbClr val="172936"/>
                </a:solidFill>
                <a:latin typeface="Arial"/>
                <a:ea typeface="Arial"/>
                <a:cs typeface="Arial"/>
              </a:defRPr>
            </a:lvl2pPr>
            <a:lvl3pPr algn="r">
              <a:defRPr sz="2100" b="0">
                <a:solidFill>
                  <a:srgbClr val="172936"/>
                </a:solidFill>
                <a:latin typeface="Arial"/>
                <a:ea typeface="Arial"/>
                <a:cs typeface="Arial"/>
              </a:defRPr>
            </a:lvl3pPr>
            <a:lvl4pPr algn="r">
              <a:defRPr sz="2100" b="0">
                <a:solidFill>
                  <a:srgbClr val="172936"/>
                </a:solidFill>
                <a:latin typeface="Arial"/>
                <a:ea typeface="Arial"/>
                <a:cs typeface="Arial"/>
              </a:defRPr>
            </a:lvl4pPr>
            <a:lvl5pPr algn="r">
              <a:defRPr sz="2100" b="0">
                <a:solidFill>
                  <a:srgbClr val="172936"/>
                </a:solidFill>
                <a:latin typeface="Arial"/>
                <a:ea typeface="Arial"/>
                <a:cs typeface="Arial"/>
              </a:defRPr>
            </a:lvl5pPr>
            <a:lvl6pPr algn="r">
              <a:defRPr sz="2100" b="0">
                <a:solidFill>
                  <a:srgbClr val="172936"/>
                </a:solidFill>
                <a:latin typeface="Arial"/>
                <a:ea typeface="Arial"/>
                <a:cs typeface="Arial"/>
              </a:defRPr>
            </a:lvl6pPr>
            <a:lvl7pPr algn="r">
              <a:defRPr sz="2100" b="0">
                <a:solidFill>
                  <a:srgbClr val="172936"/>
                </a:solidFill>
                <a:latin typeface="Arial"/>
                <a:ea typeface="Arial"/>
                <a:cs typeface="Arial"/>
              </a:defRPr>
            </a:lvl7pPr>
            <a:lvl8pPr algn="r">
              <a:defRPr sz="2100" b="0">
                <a:solidFill>
                  <a:srgbClr val="172936"/>
                </a:solidFill>
                <a:latin typeface="Arial"/>
                <a:ea typeface="Arial"/>
                <a:cs typeface="Arial"/>
              </a:defRPr>
            </a:lvl8pPr>
            <a:lvl9pPr algn="r">
              <a:defRPr sz="2100" b="0">
                <a:solidFill>
                  <a:srgbClr val="172936"/>
                </a:solidFill>
                <a:latin typeface="Arial"/>
                <a:ea typeface="Arial"/>
                <a:cs typeface="Arial"/>
              </a:defRPr>
            </a:lvl9pPr>
          </a:lstStyle>
          <a:p xmlns:a="http://schemas.openxmlformats.org/drawingml/2006/main">
            <a:pPr algn="r" rtl="1">
              <a:defRPr sz="2100" b="0" lang="ar-SA">
                <a:solidFill>
                  <a:srgbClr val="172936"/>
                </a:solidFill>
                <a:latin typeface="Arial"/>
                <a:ea typeface="Arial"/>
                <a:cs typeface="Arial"/>
              </a:defRPr>
            </a:pPr>
            <a:r>
              <a:rPr sz="2100" b="0" lang="ar-SA">
                <a:solidFill>
                  <a:srgbClr val="172936"/>
                </a:solidFill>
                <a:latin typeface="Arial"/>
                <a:ea typeface="Arial"/>
                <a:cs typeface="Arial"/>
              </a:rPr>
              <a:t>خط أساس الفئة الأكثر شيوعا: 64.94% مع استدعاء صفر للمصابات</a:t>
            </a:r>
          </a:p>
        </p:txBody>
      </p:sp>
    </p:spTree>
    <p:extLst>
      <p:ext uri="{BB962C8B-B14F-4D97-AF65-F5344CB8AC3E}">
        <p14:creationId xmlns:p14="http://schemas.microsoft.com/office/powerpoint/2010/main" val="896768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A3DB81-25F2-4620-8A5B-15EC24D77647}"/>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مصفوفة الالتباس</a:t>
            </a:r>
          </a:p>
        </p:txBody>
      </p:sp>
      <p:sp>
        <p:nvSpPr>
          <p:cNvPr id="2" name="">
            <a:extLst xmlns:a="http://schemas.openxmlformats.org/drawingml/2006/main">
              <a:ext uri="{FF2B5EF4-FFF2-40B4-BE49-F238E27FC236}">
                <a16:creationId xmlns:a16="http://schemas.microsoft.com/office/drawing/2014/main" id="{25F8B8B9-88E7-4506-BDFE-572EABCB1C3D}"/>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06B791BA-0EC6-45D6-B39E-3B2BB0BE6005}"/>
              </a:ext>
            </a:extLst>
          </p:cNvPr>
          <p:cNvSpPr>
            <a:spLocks xmlns:a="http://schemas.openxmlformats.org/drawingml/2006/main" noGrp="1"/>
          </p:cNvSpPr>
          <p:nvPr/>
        </p:nvSpPr>
        <p:spPr>
          <a:xfrm xmlns:a="http://schemas.openxmlformats.org/drawingml/2006/main">
            <a:off x="1047750" y="157162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475" b="1">
                <a:solidFill>
                  <a:srgbClr val="172936"/>
                </a:solidFill>
                <a:latin typeface="Arial"/>
                <a:ea typeface="Arial"/>
                <a:cs typeface="Arial"/>
              </a:defRPr>
            </a:defPPr>
            <a:lvl1pPr algn="ctr">
              <a:defRPr sz="2475" b="1">
                <a:solidFill>
                  <a:srgbClr val="172936"/>
                </a:solidFill>
                <a:latin typeface="Arial"/>
                <a:ea typeface="Arial"/>
                <a:cs typeface="Arial"/>
              </a:defRPr>
            </a:lvl1pPr>
            <a:lvl2pPr algn="ctr">
              <a:defRPr sz="2475" b="1">
                <a:solidFill>
                  <a:srgbClr val="172936"/>
                </a:solidFill>
                <a:latin typeface="Arial"/>
                <a:ea typeface="Arial"/>
                <a:cs typeface="Arial"/>
              </a:defRPr>
            </a:lvl2pPr>
            <a:lvl3pPr algn="ctr">
              <a:defRPr sz="2475" b="1">
                <a:solidFill>
                  <a:srgbClr val="172936"/>
                </a:solidFill>
                <a:latin typeface="Arial"/>
                <a:ea typeface="Arial"/>
                <a:cs typeface="Arial"/>
              </a:defRPr>
            </a:lvl3pPr>
            <a:lvl4pPr algn="ctr">
              <a:defRPr sz="2475" b="1">
                <a:solidFill>
                  <a:srgbClr val="172936"/>
                </a:solidFill>
                <a:latin typeface="Arial"/>
                <a:ea typeface="Arial"/>
                <a:cs typeface="Arial"/>
              </a:defRPr>
            </a:lvl4pPr>
            <a:lvl5pPr algn="ctr">
              <a:defRPr sz="2475" b="1">
                <a:solidFill>
                  <a:srgbClr val="172936"/>
                </a:solidFill>
                <a:latin typeface="Arial"/>
                <a:ea typeface="Arial"/>
                <a:cs typeface="Arial"/>
              </a:defRPr>
            </a:lvl5pPr>
            <a:lvl6pPr algn="ctr">
              <a:defRPr sz="2475" b="1">
                <a:solidFill>
                  <a:srgbClr val="172936"/>
                </a:solidFill>
                <a:latin typeface="Arial"/>
                <a:ea typeface="Arial"/>
                <a:cs typeface="Arial"/>
              </a:defRPr>
            </a:lvl6pPr>
            <a:lvl7pPr algn="ctr">
              <a:defRPr sz="2475" b="1">
                <a:solidFill>
                  <a:srgbClr val="172936"/>
                </a:solidFill>
                <a:latin typeface="Arial"/>
                <a:ea typeface="Arial"/>
                <a:cs typeface="Arial"/>
              </a:defRPr>
            </a:lvl7pPr>
            <a:lvl8pPr algn="ctr">
              <a:defRPr sz="2475" b="1">
                <a:solidFill>
                  <a:srgbClr val="172936"/>
                </a:solidFill>
                <a:latin typeface="Arial"/>
                <a:ea typeface="Arial"/>
                <a:cs typeface="Arial"/>
              </a:defRPr>
            </a:lvl8pPr>
            <a:lvl9pPr algn="ctr">
              <a:defRPr sz="2475" b="1">
                <a:solidFill>
                  <a:srgbClr val="172936"/>
                </a:solidFill>
                <a:latin typeface="Arial"/>
                <a:ea typeface="Arial"/>
                <a:cs typeface="Arial"/>
              </a:defRPr>
            </a:lvl9pPr>
          </a:lstStyle>
          <a:p xmlns:a="http://schemas.openxmlformats.org/drawingml/2006/main">
            <a:pPr algn="ctr" rtl="0">
              <a:defRPr sz="2475" b="1" lang="en-US">
                <a:solidFill>
                  <a:srgbClr val="172936"/>
                </a:solidFill>
                <a:latin typeface="Arial"/>
                <a:ea typeface="Arial"/>
                <a:cs typeface="Arial"/>
              </a:defRPr>
            </a:pPr>
            <a:r>
              <a:rPr sz="2475" b="1" lang="en-US">
                <a:solidFill>
                  <a:srgbClr val="172936"/>
                </a:solidFill>
                <a:latin typeface="Arial"/>
                <a:ea typeface="Arial"/>
                <a:cs typeface="Arial"/>
              </a:rPr>
              <a:t>MLP_A</a:t>
            </a:r>
          </a:p>
        </p:txBody>
      </p:sp>
      <p:sp>
        <p:nvSpPr>
          <p:cNvPr id="4" name="">
            <a:extLst xmlns:a="http://schemas.openxmlformats.org/drawingml/2006/main">
              <a:ext uri="{FF2B5EF4-FFF2-40B4-BE49-F238E27FC236}">
                <a16:creationId xmlns:a16="http://schemas.microsoft.com/office/drawing/2014/main" id="{662053B0-1E9F-49B0-B04D-D8FD9807E792}"/>
              </a:ext>
            </a:extLst>
          </p:cNvPr>
          <p:cNvSpPr>
            <a:spLocks xmlns:a="http://schemas.openxmlformats.org/drawingml/2006/main" noGrp="1"/>
          </p:cNvSpPr>
          <p:nvPr/>
        </p:nvSpPr>
        <p:spPr>
          <a:xfrm xmlns:a="http://schemas.openxmlformats.org/drawingml/2006/main">
            <a:off x="6762750" y="157162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475" b="1">
                <a:solidFill>
                  <a:srgbClr val="172936"/>
                </a:solidFill>
                <a:latin typeface="Arial"/>
                <a:ea typeface="Arial"/>
                <a:cs typeface="Arial"/>
              </a:defRPr>
            </a:defPPr>
            <a:lvl1pPr algn="ctr">
              <a:defRPr sz="2475" b="1">
                <a:solidFill>
                  <a:srgbClr val="172936"/>
                </a:solidFill>
                <a:latin typeface="Arial"/>
                <a:ea typeface="Arial"/>
                <a:cs typeface="Arial"/>
              </a:defRPr>
            </a:lvl1pPr>
            <a:lvl2pPr algn="ctr">
              <a:defRPr sz="2475" b="1">
                <a:solidFill>
                  <a:srgbClr val="172936"/>
                </a:solidFill>
                <a:latin typeface="Arial"/>
                <a:ea typeface="Arial"/>
                <a:cs typeface="Arial"/>
              </a:defRPr>
            </a:lvl2pPr>
            <a:lvl3pPr algn="ctr">
              <a:defRPr sz="2475" b="1">
                <a:solidFill>
                  <a:srgbClr val="172936"/>
                </a:solidFill>
                <a:latin typeface="Arial"/>
                <a:ea typeface="Arial"/>
                <a:cs typeface="Arial"/>
              </a:defRPr>
            </a:lvl3pPr>
            <a:lvl4pPr algn="ctr">
              <a:defRPr sz="2475" b="1">
                <a:solidFill>
                  <a:srgbClr val="172936"/>
                </a:solidFill>
                <a:latin typeface="Arial"/>
                <a:ea typeface="Arial"/>
                <a:cs typeface="Arial"/>
              </a:defRPr>
            </a:lvl4pPr>
            <a:lvl5pPr algn="ctr">
              <a:defRPr sz="2475" b="1">
                <a:solidFill>
                  <a:srgbClr val="172936"/>
                </a:solidFill>
                <a:latin typeface="Arial"/>
                <a:ea typeface="Arial"/>
                <a:cs typeface="Arial"/>
              </a:defRPr>
            </a:lvl5pPr>
            <a:lvl6pPr algn="ctr">
              <a:defRPr sz="2475" b="1">
                <a:solidFill>
                  <a:srgbClr val="172936"/>
                </a:solidFill>
                <a:latin typeface="Arial"/>
                <a:ea typeface="Arial"/>
                <a:cs typeface="Arial"/>
              </a:defRPr>
            </a:lvl6pPr>
            <a:lvl7pPr algn="ctr">
              <a:defRPr sz="2475" b="1">
                <a:solidFill>
                  <a:srgbClr val="172936"/>
                </a:solidFill>
                <a:latin typeface="Arial"/>
                <a:ea typeface="Arial"/>
                <a:cs typeface="Arial"/>
              </a:defRPr>
            </a:lvl7pPr>
            <a:lvl8pPr algn="ctr">
              <a:defRPr sz="2475" b="1">
                <a:solidFill>
                  <a:srgbClr val="172936"/>
                </a:solidFill>
                <a:latin typeface="Arial"/>
                <a:ea typeface="Arial"/>
                <a:cs typeface="Arial"/>
              </a:defRPr>
            </a:lvl8pPr>
            <a:lvl9pPr algn="ctr">
              <a:defRPr sz="2475" b="1">
                <a:solidFill>
                  <a:srgbClr val="172936"/>
                </a:solidFill>
                <a:latin typeface="Arial"/>
                <a:ea typeface="Arial"/>
                <a:cs typeface="Arial"/>
              </a:defRPr>
            </a:lvl9pPr>
          </a:lstStyle>
          <a:p xmlns:a="http://schemas.openxmlformats.org/drawingml/2006/main">
            <a:pPr algn="ctr" rtl="0">
              <a:defRPr sz="2475" b="1" lang="en-US">
                <a:solidFill>
                  <a:srgbClr val="172936"/>
                </a:solidFill>
                <a:latin typeface="Arial"/>
                <a:ea typeface="Arial"/>
                <a:cs typeface="Arial"/>
              </a:defRPr>
            </a:pPr>
            <a:r>
              <a:rPr sz="2475" b="1" lang="en-US">
                <a:solidFill>
                  <a:srgbClr val="172936"/>
                </a:solidFill>
                <a:latin typeface="Arial"/>
                <a:ea typeface="Arial"/>
                <a:cs typeface="Arial"/>
              </a:rPr>
              <a:t>MLP_B</a:t>
            </a:r>
          </a:p>
        </p:txBody>
      </p:sp>
      <p:graphicFrame>
        <p:nvGraphicFramePr>
          <p:cNvPr id="5" name="">
            <a:extLst xmlns:a="http://schemas.openxmlformats.org/drawingml/2006/main">
              <a:ext uri="{FF2B5EF4-FFF2-40B4-BE49-F238E27FC236}">
                <a16:creationId xmlns:a16="http://schemas.microsoft.com/office/drawing/2014/main" id="{86E52D61-CFC9-4D10-AAF5-EDC63B0E3DB6}"/>
              </a:ext>
            </a:extLst>
          </p:cNvPr>
          <p:cNvGraphicFramePr/>
          <p:nvPr/>
        </p:nvGraphicFramePr>
        <p:xfrm>
          <a:off xmlns:a="http://schemas.openxmlformats.org/drawingml/2006/main" x="1047750" y="2143125"/>
          <a:ext xmlns:a="http://schemas.openxmlformats.org/drawingml/2006/main" cx="4381500" cy="2286000"/>
        </p:xfrm>
        <a:graphic xmlns:a="http://schemas.openxmlformats.org/drawingml/2006/main">
          <a:graphicData uri="http://schemas.openxmlformats.org/drawingml/2006/table">
            <a:tbl>
              <a:tblPr/>
              <a:tblGrid>
                <a:gridCol w="1460500"/>
                <a:gridCol w="1460500"/>
                <a:gridCol w="1460500"/>
              </a:tblGrid>
              <a:tr h="762000">
                <a:tc>
                  <a:txBody>
                    <a:bodyPr/>
                    <a:lstStyle/>
                    <a:p>
                      <a:pPr algn="ctr" rtl="0"/>
                      <a:r>
                        <a:rPr sz="2100" b="1" lang="en-US">
                          <a:solidFill>
                            <a:srgbClr val="172936"/>
                          </a:solidFill>
                          <a:latin typeface="Arial"/>
                          <a:ea typeface="Arial"/>
                          <a:cs typeface="Arial"/>
                        </a:rPr>
                        <a:t>True / Pred</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0</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1</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762000">
                <a:tc>
                  <a:txBody>
                    <a:bodyPr/>
                    <a:lstStyle/>
                    <a:p>
                      <a:pPr algn="ctr" rtl="0"/>
                      <a:r>
                        <a:rPr sz="2100" b="0" lang="en-US">
                          <a:solidFill>
                            <a:srgbClr val="172936"/>
                          </a:solidFill>
                          <a:latin typeface="Arial"/>
                          <a:ea typeface="Arial"/>
                          <a:cs typeface="Arial"/>
                        </a:rPr>
                        <a:t>0</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82</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18</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762000">
                <a:tc>
                  <a:txBody>
                    <a:bodyPr/>
                    <a:lstStyle/>
                    <a:p>
                      <a:pPr algn="ctr" rtl="0"/>
                      <a:r>
                        <a:rPr sz="2100" b="0" lang="en-US">
                          <a:solidFill>
                            <a:srgbClr val="172936"/>
                          </a:solidFill>
                          <a:latin typeface="Arial"/>
                          <a:ea typeface="Arial"/>
                          <a:cs typeface="Arial"/>
                        </a:rPr>
                        <a:t>1</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29</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25</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E6877F5A-4412-4B5B-8EBD-B7C438AA6BC6}"/>
              </a:ext>
            </a:extLst>
          </p:cNvPr>
          <p:cNvGraphicFramePr/>
          <p:nvPr/>
        </p:nvGraphicFramePr>
        <p:xfrm>
          <a:off xmlns:a="http://schemas.openxmlformats.org/drawingml/2006/main" x="6762750" y="2143125"/>
          <a:ext xmlns:a="http://schemas.openxmlformats.org/drawingml/2006/main" cx="4381500" cy="2286000"/>
        </p:xfrm>
        <a:graphic xmlns:a="http://schemas.openxmlformats.org/drawingml/2006/main">
          <a:graphicData uri="http://schemas.openxmlformats.org/drawingml/2006/table">
            <a:tbl>
              <a:tblPr/>
              <a:tblGrid>
                <a:gridCol w="1460500"/>
                <a:gridCol w="1460500"/>
                <a:gridCol w="1460500"/>
              </a:tblGrid>
              <a:tr h="762000">
                <a:tc>
                  <a:txBody>
                    <a:bodyPr/>
                    <a:lstStyle/>
                    <a:p>
                      <a:pPr algn="ctr" rtl="0"/>
                      <a:r>
                        <a:rPr sz="2100" b="1" lang="en-US">
                          <a:solidFill>
                            <a:srgbClr val="172936"/>
                          </a:solidFill>
                          <a:latin typeface="Arial"/>
                          <a:ea typeface="Arial"/>
                          <a:cs typeface="Arial"/>
                        </a:rPr>
                        <a:t>True / Pred</a:t>
                      </a:r>
                    </a:p>
                  </a:txBody>
                  <a:tcPr marL="91440" marR="91440" marT="45720" marB="45720" anchor="ctr">
                    <a:lnL w="9525">
                      <a:solidFill>
                        <a:srgbClr val="CBD5DC"/>
                      </a:solidFill>
                      <a:prstDash val="solid"/>
                    </a:lnL>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0</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c>
                  <a:txBody>
                    <a:bodyPr/>
                    <a:lstStyle/>
                    <a:p>
                      <a:pPr algn="ctr" rtl="0"/>
                      <a:r>
                        <a:rPr sz="2100" b="1" lang="en-US">
                          <a:solidFill>
                            <a:srgbClr val="172936"/>
                          </a:solidFill>
                          <a:latin typeface="Arial"/>
                          <a:ea typeface="Arial"/>
                          <a:cs typeface="Arial"/>
                        </a:rPr>
                        <a:t>1</a:t>
                      </a:r>
                    </a:p>
                  </a:txBody>
                  <a:tcPr marL="91440" marR="91440" marT="45720" marB="45720" anchor="ctr">
                    <a:lnR w="9525">
                      <a:solidFill>
                        <a:srgbClr val="CBD5DC"/>
                      </a:solidFill>
                      <a:prstDash val="solid"/>
                    </a:lnR>
                    <a:lnT w="9525">
                      <a:solidFill>
                        <a:srgbClr val="CBD5DC"/>
                      </a:solidFill>
                      <a:prstDash val="solid"/>
                    </a:lnT>
                    <a:lnB w="9525">
                      <a:solidFill>
                        <a:srgbClr val="CBD5DC"/>
                      </a:solidFill>
                      <a:prstDash val="solid"/>
                    </a:lnB>
                    <a:solidFill>
                      <a:srgbClr val="E7EFF4"/>
                    </a:solidFill>
                  </a:tcPr>
                </a:tc>
              </a:tr>
              <a:tr h="762000">
                <a:tc>
                  <a:txBody>
                    <a:bodyPr/>
                    <a:lstStyle/>
                    <a:p>
                      <a:pPr algn="ctr" rtl="0"/>
                      <a:r>
                        <a:rPr sz="2100" b="0" lang="en-US">
                          <a:solidFill>
                            <a:srgbClr val="172936"/>
                          </a:solidFill>
                          <a:latin typeface="Arial"/>
                          <a:ea typeface="Arial"/>
                          <a:cs typeface="Arial"/>
                        </a:rPr>
                        <a:t>0</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82</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18</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r h="762000">
                <a:tc>
                  <a:txBody>
                    <a:bodyPr/>
                    <a:lstStyle/>
                    <a:p>
                      <a:pPr algn="ctr" rtl="0"/>
                      <a:r>
                        <a:rPr sz="2100" b="0" lang="en-US">
                          <a:solidFill>
                            <a:srgbClr val="172936"/>
                          </a:solidFill>
                          <a:latin typeface="Arial"/>
                          <a:ea typeface="Arial"/>
                          <a:cs typeface="Arial"/>
                        </a:rPr>
                        <a:t>1</a:t>
                      </a:r>
                    </a:p>
                  </a:txBody>
                  <a:tcPr marL="91440" marR="91440" marT="45720" marB="45720" anchor="ctr">
                    <a:lnL w="9525">
                      <a:solidFill>
                        <a:srgbClr val="CBD5DC"/>
                      </a:solidFill>
                      <a:prstDash val="solid"/>
                    </a:lnL>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26</a:t>
                      </a:r>
                    </a:p>
                  </a:txBody>
                  <a:tcPr marL="91440" marR="91440" marT="45720" marB="45720" anchor="ctr">
                    <a:lnR w="9525">
                      <a:solidFill>
                        <a:srgbClr val="CBD5DC"/>
                      </a:solidFill>
                      <a:prstDash val="solid"/>
                    </a:lnR>
                    <a:lnB w="9525">
                      <a:solidFill>
                        <a:srgbClr val="CBD5DC"/>
                      </a:solidFill>
                      <a:prstDash val="solid"/>
                    </a:lnB>
                    <a:solidFill>
                      <a:srgbClr val="FFFFFF"/>
                    </a:solidFill>
                  </a:tcPr>
                </a:tc>
                <a:tc>
                  <a:txBody>
                    <a:bodyPr/>
                    <a:lstStyle/>
                    <a:p>
                      <a:pPr algn="ctr" rtl="0"/>
                      <a:r>
                        <a:rPr sz="2100" b="0" lang="en-US">
                          <a:solidFill>
                            <a:srgbClr val="172936"/>
                          </a:solidFill>
                          <a:latin typeface="Arial"/>
                          <a:ea typeface="Arial"/>
                          <a:cs typeface="Arial"/>
                        </a:rPr>
                        <a:t>28</a:t>
                      </a:r>
                    </a:p>
                  </a:txBody>
                  <a:tcPr marL="91440" marR="91440" marT="45720" marB="45720" anchor="ctr">
                    <a:lnR w="9525">
                      <a:solidFill>
                        <a:srgbClr val="CBD5DC"/>
                      </a:solidFill>
                      <a:prstDash val="solid"/>
                    </a:lnR>
                    <a:lnB w="9525">
                      <a:solidFill>
                        <a:srgbClr val="CBD5DC"/>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4DFEDB5-6193-4075-AC54-9D1B8AA60566}"/>
              </a:ext>
            </a:extLst>
          </p:cNvPr>
          <p:cNvSpPr>
            <a:spLocks xmlns:a="http://schemas.openxmlformats.org/drawingml/2006/main" noGrp="1"/>
          </p:cNvSpPr>
          <p:nvPr/>
        </p:nvSpPr>
        <p:spPr>
          <a:xfrm xmlns:a="http://schemas.openxmlformats.org/drawingml/2006/main">
            <a:off x="952500" y="4953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550" b="1">
                <a:solidFill>
                  <a:srgbClr val="172936"/>
                </a:solidFill>
                <a:latin typeface="Arial"/>
                <a:ea typeface="Arial"/>
                <a:cs typeface="Arial"/>
              </a:defRPr>
            </a:defPPr>
            <a:lvl1pPr algn="r">
              <a:defRPr sz="2550" b="1">
                <a:solidFill>
                  <a:srgbClr val="172936"/>
                </a:solidFill>
                <a:latin typeface="Arial"/>
                <a:ea typeface="Arial"/>
                <a:cs typeface="Arial"/>
              </a:defRPr>
            </a:lvl1pPr>
            <a:lvl2pPr algn="r">
              <a:defRPr sz="2550" b="1">
                <a:solidFill>
                  <a:srgbClr val="172936"/>
                </a:solidFill>
                <a:latin typeface="Arial"/>
                <a:ea typeface="Arial"/>
                <a:cs typeface="Arial"/>
              </a:defRPr>
            </a:lvl2pPr>
            <a:lvl3pPr algn="r">
              <a:defRPr sz="2550" b="1">
                <a:solidFill>
                  <a:srgbClr val="172936"/>
                </a:solidFill>
                <a:latin typeface="Arial"/>
                <a:ea typeface="Arial"/>
                <a:cs typeface="Arial"/>
              </a:defRPr>
            </a:lvl3pPr>
            <a:lvl4pPr algn="r">
              <a:defRPr sz="2550" b="1">
                <a:solidFill>
                  <a:srgbClr val="172936"/>
                </a:solidFill>
                <a:latin typeface="Arial"/>
                <a:ea typeface="Arial"/>
                <a:cs typeface="Arial"/>
              </a:defRPr>
            </a:lvl4pPr>
            <a:lvl5pPr algn="r">
              <a:defRPr sz="2550" b="1">
                <a:solidFill>
                  <a:srgbClr val="172936"/>
                </a:solidFill>
                <a:latin typeface="Arial"/>
                <a:ea typeface="Arial"/>
                <a:cs typeface="Arial"/>
              </a:defRPr>
            </a:lvl5pPr>
            <a:lvl6pPr algn="r">
              <a:defRPr sz="2550" b="1">
                <a:solidFill>
                  <a:srgbClr val="172936"/>
                </a:solidFill>
                <a:latin typeface="Arial"/>
                <a:ea typeface="Arial"/>
                <a:cs typeface="Arial"/>
              </a:defRPr>
            </a:lvl6pPr>
            <a:lvl7pPr algn="r">
              <a:defRPr sz="2550" b="1">
                <a:solidFill>
                  <a:srgbClr val="172936"/>
                </a:solidFill>
                <a:latin typeface="Arial"/>
                <a:ea typeface="Arial"/>
                <a:cs typeface="Arial"/>
              </a:defRPr>
            </a:lvl7pPr>
            <a:lvl8pPr algn="r">
              <a:defRPr sz="2550" b="1">
                <a:solidFill>
                  <a:srgbClr val="172936"/>
                </a:solidFill>
                <a:latin typeface="Arial"/>
                <a:ea typeface="Arial"/>
                <a:cs typeface="Arial"/>
              </a:defRPr>
            </a:lvl8pPr>
            <a:lvl9pPr algn="r">
              <a:defRPr sz="2550" b="1">
                <a:solidFill>
                  <a:srgbClr val="172936"/>
                </a:solidFill>
                <a:latin typeface="Arial"/>
                <a:ea typeface="Arial"/>
                <a:cs typeface="Arial"/>
              </a:defRPr>
            </a:lvl9pPr>
          </a:lstStyle>
          <a:p xmlns:a="http://schemas.openxmlformats.org/drawingml/2006/main">
            <a:pPr algn="r" rtl="1">
              <a:defRPr sz="2550" b="1" lang="ar-SA">
                <a:solidFill>
                  <a:srgbClr val="172936"/>
                </a:solidFill>
                <a:latin typeface="Arial"/>
                <a:ea typeface="Arial"/>
                <a:cs typeface="Arial"/>
              </a:defRPr>
            </a:pPr>
            <a:r>
              <a:rPr sz="2550" b="1" lang="ar-SA">
                <a:solidFill>
                  <a:srgbClr val="172936"/>
                </a:solidFill>
                <a:latin typeface="Arial"/>
                <a:ea typeface="Arial"/>
                <a:cs typeface="Arial"/>
              </a:rPr>
              <a:t>النموذج B اكتشف 28 من 54 حالة مصابة وفقد 26 حالة</a:t>
            </a:r>
          </a:p>
        </p:txBody>
      </p:sp>
      <p:sp>
        <p:nvSpPr>
          <p:cNvPr id="8" name="">
            <a:extLst xmlns:a="http://schemas.openxmlformats.org/drawingml/2006/main">
              <a:ext uri="{FF2B5EF4-FFF2-40B4-BE49-F238E27FC236}">
                <a16:creationId xmlns:a16="http://schemas.microsoft.com/office/drawing/2014/main" id="{63FDB43A-71A8-4F44-AC86-F28ED45BB839}"/>
              </a:ext>
            </a:extLst>
          </p:cNvPr>
          <p:cNvSpPr>
            <a:spLocks xmlns:a="http://schemas.openxmlformats.org/drawingml/2006/main" noGrp="1"/>
          </p:cNvSpPr>
          <p:nvPr/>
        </p:nvSpPr>
        <p:spPr>
          <a:xfrm xmlns:a="http://schemas.openxmlformats.org/drawingml/2006/main">
            <a:off x="952500" y="57150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175" b="0">
                <a:solidFill>
                  <a:srgbClr val="172936"/>
                </a:solidFill>
                <a:latin typeface="Arial"/>
                <a:ea typeface="Arial"/>
                <a:cs typeface="Arial"/>
              </a:defRPr>
            </a:defPPr>
            <a:lvl1pPr algn="r">
              <a:defRPr sz="2175" b="0">
                <a:solidFill>
                  <a:srgbClr val="172936"/>
                </a:solidFill>
                <a:latin typeface="Arial"/>
                <a:ea typeface="Arial"/>
                <a:cs typeface="Arial"/>
              </a:defRPr>
            </a:lvl1pPr>
            <a:lvl2pPr algn="r">
              <a:defRPr sz="2175" b="0">
                <a:solidFill>
                  <a:srgbClr val="172936"/>
                </a:solidFill>
                <a:latin typeface="Arial"/>
                <a:ea typeface="Arial"/>
                <a:cs typeface="Arial"/>
              </a:defRPr>
            </a:lvl2pPr>
            <a:lvl3pPr algn="r">
              <a:defRPr sz="2175" b="0">
                <a:solidFill>
                  <a:srgbClr val="172936"/>
                </a:solidFill>
                <a:latin typeface="Arial"/>
                <a:ea typeface="Arial"/>
                <a:cs typeface="Arial"/>
              </a:defRPr>
            </a:lvl3pPr>
            <a:lvl4pPr algn="r">
              <a:defRPr sz="2175" b="0">
                <a:solidFill>
                  <a:srgbClr val="172936"/>
                </a:solidFill>
                <a:latin typeface="Arial"/>
                <a:ea typeface="Arial"/>
                <a:cs typeface="Arial"/>
              </a:defRPr>
            </a:lvl4pPr>
            <a:lvl5pPr algn="r">
              <a:defRPr sz="2175" b="0">
                <a:solidFill>
                  <a:srgbClr val="172936"/>
                </a:solidFill>
                <a:latin typeface="Arial"/>
                <a:ea typeface="Arial"/>
                <a:cs typeface="Arial"/>
              </a:defRPr>
            </a:lvl5pPr>
            <a:lvl6pPr algn="r">
              <a:defRPr sz="2175" b="0">
                <a:solidFill>
                  <a:srgbClr val="172936"/>
                </a:solidFill>
                <a:latin typeface="Arial"/>
                <a:ea typeface="Arial"/>
                <a:cs typeface="Arial"/>
              </a:defRPr>
            </a:lvl6pPr>
            <a:lvl7pPr algn="r">
              <a:defRPr sz="2175" b="0">
                <a:solidFill>
                  <a:srgbClr val="172936"/>
                </a:solidFill>
                <a:latin typeface="Arial"/>
                <a:ea typeface="Arial"/>
                <a:cs typeface="Arial"/>
              </a:defRPr>
            </a:lvl7pPr>
            <a:lvl8pPr algn="r">
              <a:defRPr sz="2175" b="0">
                <a:solidFill>
                  <a:srgbClr val="172936"/>
                </a:solidFill>
                <a:latin typeface="Arial"/>
                <a:ea typeface="Arial"/>
                <a:cs typeface="Arial"/>
              </a:defRPr>
            </a:lvl8pPr>
            <a:lvl9pPr algn="r">
              <a:defRPr sz="2175" b="0">
                <a:solidFill>
                  <a:srgbClr val="172936"/>
                </a:solidFill>
                <a:latin typeface="Arial"/>
                <a:ea typeface="Arial"/>
                <a:cs typeface="Arial"/>
              </a:defRPr>
            </a:lvl9pPr>
          </a:lstStyle>
          <a:p xmlns:a="http://schemas.openxmlformats.org/drawingml/2006/main">
            <a:pPr algn="r" rtl="1">
              <a:defRPr sz="2175" b="0" lang="ar-SA">
                <a:solidFill>
                  <a:srgbClr val="172936"/>
                </a:solidFill>
                <a:latin typeface="Arial"/>
                <a:ea typeface="Arial"/>
                <a:cs typeface="Arial"/>
              </a:defRPr>
            </a:pPr>
            <a:r>
              <a:rPr sz="2175" b="0" lang="ar-SA">
                <a:solidFill>
                  <a:srgbClr val="172936"/>
                </a:solidFill>
                <a:latin typeface="Arial"/>
                <a:ea typeface="Arial"/>
                <a:cs typeface="Arial"/>
              </a:rPr>
              <a:t>الصفوف حقيقية والأعمدة متوقعة</a:t>
            </a:r>
          </a:p>
        </p:txBody>
      </p:sp>
    </p:spTree>
    <p:extLst>
      <p:ext uri="{BB962C8B-B14F-4D97-AF65-F5344CB8AC3E}">
        <p14:creationId xmlns:p14="http://schemas.microsoft.com/office/powerpoint/2010/main" val="19987609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CED3F4-05C1-4653-A99E-27F003C63F95}"/>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تشغيل المشروع</a:t>
            </a:r>
          </a:p>
        </p:txBody>
      </p:sp>
      <p:sp>
        <p:nvSpPr>
          <p:cNvPr id="2" name="">
            <a:extLst xmlns:a="http://schemas.openxmlformats.org/drawingml/2006/main">
              <a:ext uri="{FF2B5EF4-FFF2-40B4-BE49-F238E27FC236}">
                <a16:creationId xmlns:a16="http://schemas.microsoft.com/office/drawing/2014/main" id="{E1B1D9FD-0B39-4AF4-BCF1-489D9775AD3B}"/>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6C0A418-58B2-447B-B195-C8942EA88525}"/>
              </a:ext>
            </a:extLst>
          </p:cNvPr>
          <p:cNvSpPr>
            <a:spLocks xmlns:a="http://schemas.openxmlformats.org/drawingml/2006/main" noGrp="1"/>
          </p:cNvSpPr>
          <p:nvPr/>
        </p:nvSpPr>
        <p:spPr>
          <a:xfrm xmlns:a="http://schemas.openxmlformats.org/drawingml/2006/main">
            <a:off x="1238250" y="1905000"/>
            <a:ext cx="9715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0">
                <a:solidFill>
                  <a:srgbClr val="172936"/>
                </a:solidFill>
                <a:latin typeface="Arial"/>
                <a:ea typeface="Arial"/>
                <a:cs typeface="Arial"/>
              </a:defRPr>
            </a:defPPr>
            <a:lvl1pPr algn="l">
              <a:defRPr sz="2700" b="0">
                <a:solidFill>
                  <a:srgbClr val="172936"/>
                </a:solidFill>
                <a:latin typeface="Arial"/>
                <a:ea typeface="Arial"/>
                <a:cs typeface="Arial"/>
              </a:defRPr>
            </a:lvl1pPr>
            <a:lvl2pPr algn="l">
              <a:defRPr sz="2700" b="0">
                <a:solidFill>
                  <a:srgbClr val="172936"/>
                </a:solidFill>
                <a:latin typeface="Arial"/>
                <a:ea typeface="Arial"/>
                <a:cs typeface="Arial"/>
              </a:defRPr>
            </a:lvl2pPr>
            <a:lvl3pPr algn="l">
              <a:defRPr sz="2700" b="0">
                <a:solidFill>
                  <a:srgbClr val="172936"/>
                </a:solidFill>
                <a:latin typeface="Arial"/>
                <a:ea typeface="Arial"/>
                <a:cs typeface="Arial"/>
              </a:defRPr>
            </a:lvl3pPr>
            <a:lvl4pPr algn="l">
              <a:defRPr sz="2700" b="0">
                <a:solidFill>
                  <a:srgbClr val="172936"/>
                </a:solidFill>
                <a:latin typeface="Arial"/>
                <a:ea typeface="Arial"/>
                <a:cs typeface="Arial"/>
              </a:defRPr>
            </a:lvl4pPr>
            <a:lvl5pPr algn="l">
              <a:defRPr sz="2700" b="0">
                <a:solidFill>
                  <a:srgbClr val="172936"/>
                </a:solidFill>
                <a:latin typeface="Arial"/>
                <a:ea typeface="Arial"/>
                <a:cs typeface="Arial"/>
              </a:defRPr>
            </a:lvl5pPr>
            <a:lvl6pPr algn="l">
              <a:defRPr sz="2700" b="0">
                <a:solidFill>
                  <a:srgbClr val="172936"/>
                </a:solidFill>
                <a:latin typeface="Arial"/>
                <a:ea typeface="Arial"/>
                <a:cs typeface="Arial"/>
              </a:defRPr>
            </a:lvl6pPr>
            <a:lvl7pPr algn="l">
              <a:defRPr sz="2700" b="0">
                <a:solidFill>
                  <a:srgbClr val="172936"/>
                </a:solidFill>
                <a:latin typeface="Arial"/>
                <a:ea typeface="Arial"/>
                <a:cs typeface="Arial"/>
              </a:defRPr>
            </a:lvl7pPr>
            <a:lvl8pPr algn="l">
              <a:defRPr sz="2700" b="0">
                <a:solidFill>
                  <a:srgbClr val="172936"/>
                </a:solidFill>
                <a:latin typeface="Arial"/>
                <a:ea typeface="Arial"/>
                <a:cs typeface="Arial"/>
              </a:defRPr>
            </a:lvl8pPr>
            <a:lvl9pPr algn="l">
              <a:defRPr sz="2700" b="0">
                <a:solidFill>
                  <a:srgbClr val="172936"/>
                </a:solidFill>
                <a:latin typeface="Arial"/>
                <a:ea typeface="Arial"/>
                <a:cs typeface="Arial"/>
              </a:defRPr>
            </a:lvl9pPr>
          </a:lstStyle>
          <a:p xmlns:a="http://schemas.openxmlformats.org/drawingml/2006/main">
            <a:pPr algn="l" rtl="0">
              <a:defRPr sz="2700" b="0" lang="en-US">
                <a:solidFill>
                  <a:srgbClr val="172936"/>
                </a:solidFill>
                <a:latin typeface="Arial"/>
                <a:ea typeface="Arial"/>
                <a:cs typeface="Arial"/>
              </a:defRPr>
            </a:pPr>
            <a:r>
              <a:rPr sz="2700" b="0" lang="en-US">
                <a:solidFill>
                  <a:srgbClr val="172936"/>
                </a:solidFill>
                <a:latin typeface="Arial"/>
                <a:ea typeface="Arial"/>
                <a:cs typeface="Arial"/>
              </a:rPr>
              <a:t>python train.py</a:t>
            </a:r>
          </a:p>
          <a:p xmlns:a="http://schemas.openxmlformats.org/drawingml/2006/main">
            <a:pPr algn="l" rtl="0">
              <a:defRPr sz="2700" b="0" lang="en-US">
                <a:solidFill>
                  <a:srgbClr val="172936"/>
                </a:solidFill>
                <a:latin typeface="Arial"/>
                <a:ea typeface="Arial"/>
                <a:cs typeface="Arial"/>
              </a:defRPr>
            </a:pPr>
            <a:r>
              <a:rPr sz="2700" b="0" lang="en-US">
                <a:solidFill>
                  <a:srgbClr val="172936"/>
                </a:solidFill>
                <a:latin typeface="Arial"/>
                <a:ea typeface="Arial"/>
                <a:cs typeface="Arial"/>
              </a:rPr>
              <a:t>python verify_results.py</a:t>
            </a:r>
          </a:p>
          <a:p xmlns:a="http://schemas.openxmlformats.org/drawingml/2006/main">
            <a:pPr algn="l" rtl="0">
              <a:defRPr sz="2700" b="0" lang="en-US">
                <a:solidFill>
                  <a:srgbClr val="172936"/>
                </a:solidFill>
                <a:latin typeface="Arial"/>
                <a:ea typeface="Arial"/>
                <a:cs typeface="Arial"/>
              </a:defRPr>
            </a:pPr>
            <a:r>
              <a:rPr sz="2700" b="0" lang="en-US">
                <a:solidFill>
                  <a:srgbClr val="172936"/>
                </a:solidFill>
                <a:latin typeface="Arial"/>
                <a:ea typeface="Arial"/>
                <a:cs typeface="Arial"/>
              </a:rPr>
              <a:t>python predict.py --test-position 0</a:t>
            </a:r>
          </a:p>
        </p:txBody>
      </p:sp>
      <p:sp>
        <p:nvSpPr>
          <p:cNvPr id="4" name="">
            <a:extLst xmlns:a="http://schemas.openxmlformats.org/drawingml/2006/main">
              <a:ext uri="{FF2B5EF4-FFF2-40B4-BE49-F238E27FC236}">
                <a16:creationId xmlns:a16="http://schemas.microsoft.com/office/drawing/2014/main" id="{1739D58A-6767-42BA-8FE7-7E5335CD8D2E}"/>
              </a:ext>
            </a:extLst>
          </p:cNvPr>
          <p:cNvSpPr>
            <a:spLocks xmlns:a="http://schemas.openxmlformats.org/drawingml/2006/main" noGrp="1"/>
          </p:cNvSpPr>
          <p:nvPr/>
        </p:nvSpPr>
        <p:spPr>
          <a:xfrm xmlns:a="http://schemas.openxmlformats.org/drawingml/2006/main">
            <a:off x="952500" y="4572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النماذج والرسوم والمقاييس محفوظة في results</a:t>
            </a:r>
          </a:p>
        </p:txBody>
      </p:sp>
      <p:sp>
        <p:nvSpPr>
          <p:cNvPr id="5" name="">
            <a:extLst xmlns:a="http://schemas.openxmlformats.org/drawingml/2006/main">
              <a:ext uri="{FF2B5EF4-FFF2-40B4-BE49-F238E27FC236}">
                <a16:creationId xmlns:a16="http://schemas.microsoft.com/office/drawing/2014/main" id="{7DDBDC44-22F6-4EEC-A706-2C3233FBF7F7}"/>
              </a:ext>
            </a:extLst>
          </p:cNvPr>
          <p:cNvSpPr>
            <a:spLocks xmlns:a="http://schemas.openxmlformats.org/drawingml/2006/main" noGrp="1"/>
          </p:cNvSpPr>
          <p:nvPr/>
        </p:nvSpPr>
        <p:spPr>
          <a:xfrm xmlns:a="http://schemas.openxmlformats.org/drawingml/2006/main">
            <a:off x="952500" y="53340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دفتر Colab مستقل بالبيانات ويعمل على CPU</a:t>
            </a:r>
          </a:p>
        </p:txBody>
      </p:sp>
    </p:spTree>
    <p:extLst>
      <p:ext uri="{BB962C8B-B14F-4D97-AF65-F5344CB8AC3E}">
        <p14:creationId xmlns:p14="http://schemas.microsoft.com/office/powerpoint/2010/main" val="11778645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2FB6DB-41B2-4C7C-BFE6-BBE1ECCB803D}"/>
              </a:ext>
            </a:extLst>
          </p:cNvPr>
          <p:cNvSpPr>
            <a:spLocks xmlns:a="http://schemas.openxmlformats.org/drawingml/2006/main" noGrp="1"/>
          </p:cNvSpPr>
          <p:nvPr/>
        </p:nvSpPr>
        <p:spPr>
          <a:xfrm xmlns:a="http://schemas.openxmlformats.org/drawingml/2006/main">
            <a:off x="857250" y="523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3300" b="1">
                <a:solidFill>
                  <a:srgbClr val="172936"/>
                </a:solidFill>
                <a:latin typeface="Arial"/>
                <a:ea typeface="Arial"/>
                <a:cs typeface="Arial"/>
              </a:defRPr>
            </a:defPPr>
            <a:lvl1pPr algn="r">
              <a:defRPr sz="3300" b="1">
                <a:solidFill>
                  <a:srgbClr val="172936"/>
                </a:solidFill>
                <a:latin typeface="Arial"/>
                <a:ea typeface="Arial"/>
                <a:cs typeface="Arial"/>
              </a:defRPr>
            </a:lvl1pPr>
            <a:lvl2pPr algn="r">
              <a:defRPr sz="3300" b="1">
                <a:solidFill>
                  <a:srgbClr val="172936"/>
                </a:solidFill>
                <a:latin typeface="Arial"/>
                <a:ea typeface="Arial"/>
                <a:cs typeface="Arial"/>
              </a:defRPr>
            </a:lvl2pPr>
            <a:lvl3pPr algn="r">
              <a:defRPr sz="3300" b="1">
                <a:solidFill>
                  <a:srgbClr val="172936"/>
                </a:solidFill>
                <a:latin typeface="Arial"/>
                <a:ea typeface="Arial"/>
                <a:cs typeface="Arial"/>
              </a:defRPr>
            </a:lvl3pPr>
            <a:lvl4pPr algn="r">
              <a:defRPr sz="3300" b="1">
                <a:solidFill>
                  <a:srgbClr val="172936"/>
                </a:solidFill>
                <a:latin typeface="Arial"/>
                <a:ea typeface="Arial"/>
                <a:cs typeface="Arial"/>
              </a:defRPr>
            </a:lvl4pPr>
            <a:lvl5pPr algn="r">
              <a:defRPr sz="3300" b="1">
                <a:solidFill>
                  <a:srgbClr val="172936"/>
                </a:solidFill>
                <a:latin typeface="Arial"/>
                <a:ea typeface="Arial"/>
                <a:cs typeface="Arial"/>
              </a:defRPr>
            </a:lvl5pPr>
            <a:lvl6pPr algn="r">
              <a:defRPr sz="3300" b="1">
                <a:solidFill>
                  <a:srgbClr val="172936"/>
                </a:solidFill>
                <a:latin typeface="Arial"/>
                <a:ea typeface="Arial"/>
                <a:cs typeface="Arial"/>
              </a:defRPr>
            </a:lvl6pPr>
            <a:lvl7pPr algn="r">
              <a:defRPr sz="3300" b="1">
                <a:solidFill>
                  <a:srgbClr val="172936"/>
                </a:solidFill>
                <a:latin typeface="Arial"/>
                <a:ea typeface="Arial"/>
                <a:cs typeface="Arial"/>
              </a:defRPr>
            </a:lvl7pPr>
            <a:lvl8pPr algn="r">
              <a:defRPr sz="3300" b="1">
                <a:solidFill>
                  <a:srgbClr val="172936"/>
                </a:solidFill>
                <a:latin typeface="Arial"/>
                <a:ea typeface="Arial"/>
                <a:cs typeface="Arial"/>
              </a:defRPr>
            </a:lvl8pPr>
            <a:lvl9pPr algn="r">
              <a:defRPr sz="3300" b="1">
                <a:solidFill>
                  <a:srgbClr val="172936"/>
                </a:solidFill>
                <a:latin typeface="Arial"/>
                <a:ea typeface="Arial"/>
                <a:cs typeface="Arial"/>
              </a:defRPr>
            </a:lvl9pPr>
          </a:lstStyle>
          <a:p xmlns:a="http://schemas.openxmlformats.org/drawingml/2006/main">
            <a:pPr algn="r" rtl="1">
              <a:defRPr sz="3300" b="1" lang="ar-SA">
                <a:solidFill>
                  <a:srgbClr val="172936"/>
                </a:solidFill>
                <a:latin typeface="Arial"/>
                <a:ea typeface="Arial"/>
                <a:cs typeface="Arial"/>
              </a:defRPr>
            </a:pPr>
            <a:r>
              <a:rPr sz="3300" b="1" lang="ar-SA">
                <a:solidFill>
                  <a:srgbClr val="172936"/>
                </a:solidFill>
                <a:latin typeface="Arial"/>
                <a:ea typeface="Arial"/>
                <a:cs typeface="Arial"/>
              </a:rPr>
              <a:t>الاستنتاج وحدود التجربة</a:t>
            </a:r>
          </a:p>
        </p:txBody>
      </p:sp>
      <p:sp>
        <p:nvSpPr>
          <p:cNvPr id="2" name="">
            <a:extLst xmlns:a="http://schemas.openxmlformats.org/drawingml/2006/main">
              <a:ext uri="{FF2B5EF4-FFF2-40B4-BE49-F238E27FC236}">
                <a16:creationId xmlns:a16="http://schemas.microsoft.com/office/drawing/2014/main" id="{C73C581A-B061-4D67-8B2A-0822F77515C8}"/>
              </a:ext>
            </a:extLst>
          </p:cNvPr>
          <p:cNvSpPr>
            <a:spLocks xmlns:a="http://schemas.openxmlformats.org/drawingml/2006/main" noGrp="1"/>
          </p:cNvSpPr>
          <p:nvPr/>
        </p:nvSpPr>
        <p:spPr>
          <a:xfrm xmlns:a="http://schemas.openxmlformats.org/drawingml/2006/main">
            <a:off x="666750" y="6191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172936"/>
                </a:solidFill>
                <a:latin typeface="Arial"/>
                <a:ea typeface="Arial"/>
                <a:cs typeface="Arial"/>
              </a:defRPr>
            </a:defPPr>
            <a:lvl1pPr algn="l">
              <a:defRPr sz="1425" b="0">
                <a:solidFill>
                  <a:srgbClr val="172936"/>
                </a:solidFill>
                <a:latin typeface="Arial"/>
                <a:ea typeface="Arial"/>
                <a:cs typeface="Arial"/>
              </a:defRPr>
            </a:lvl1pPr>
            <a:lvl2pPr algn="l">
              <a:defRPr sz="1425" b="0">
                <a:solidFill>
                  <a:srgbClr val="172936"/>
                </a:solidFill>
                <a:latin typeface="Arial"/>
                <a:ea typeface="Arial"/>
                <a:cs typeface="Arial"/>
              </a:defRPr>
            </a:lvl2pPr>
            <a:lvl3pPr algn="l">
              <a:defRPr sz="1425" b="0">
                <a:solidFill>
                  <a:srgbClr val="172936"/>
                </a:solidFill>
                <a:latin typeface="Arial"/>
                <a:ea typeface="Arial"/>
                <a:cs typeface="Arial"/>
              </a:defRPr>
            </a:lvl3pPr>
            <a:lvl4pPr algn="l">
              <a:defRPr sz="1425" b="0">
                <a:solidFill>
                  <a:srgbClr val="172936"/>
                </a:solidFill>
                <a:latin typeface="Arial"/>
                <a:ea typeface="Arial"/>
                <a:cs typeface="Arial"/>
              </a:defRPr>
            </a:lvl4pPr>
            <a:lvl5pPr algn="l">
              <a:defRPr sz="1425" b="0">
                <a:solidFill>
                  <a:srgbClr val="172936"/>
                </a:solidFill>
                <a:latin typeface="Arial"/>
                <a:ea typeface="Arial"/>
                <a:cs typeface="Arial"/>
              </a:defRPr>
            </a:lvl5pPr>
            <a:lvl6pPr algn="l">
              <a:defRPr sz="1425" b="0">
                <a:solidFill>
                  <a:srgbClr val="172936"/>
                </a:solidFill>
                <a:latin typeface="Arial"/>
                <a:ea typeface="Arial"/>
                <a:cs typeface="Arial"/>
              </a:defRPr>
            </a:lvl6pPr>
            <a:lvl7pPr algn="l">
              <a:defRPr sz="1425" b="0">
                <a:solidFill>
                  <a:srgbClr val="172936"/>
                </a:solidFill>
                <a:latin typeface="Arial"/>
                <a:ea typeface="Arial"/>
                <a:cs typeface="Arial"/>
              </a:defRPr>
            </a:lvl7pPr>
            <a:lvl8pPr algn="l">
              <a:defRPr sz="1425" b="0">
                <a:solidFill>
                  <a:srgbClr val="172936"/>
                </a:solidFill>
                <a:latin typeface="Arial"/>
                <a:ea typeface="Arial"/>
                <a:cs typeface="Arial"/>
              </a:defRPr>
            </a:lvl8pPr>
            <a:lvl9pPr algn="l">
              <a:defRPr sz="1425" b="0">
                <a:solidFill>
                  <a:srgbClr val="172936"/>
                </a:solidFill>
                <a:latin typeface="Arial"/>
                <a:ea typeface="Arial"/>
                <a:cs typeface="Arial"/>
              </a:defRPr>
            </a:lvl9pPr>
          </a:lstStyle>
          <a:p xmlns:a="http://schemas.openxmlformats.org/drawingml/2006/main">
            <a:pPr algn="l" rtl="0">
              <a:defRPr sz="1425" b="0" lang="en-US">
                <a:solidFill>
                  <a:srgbClr val="172936"/>
                </a:solidFill>
                <a:latin typeface="Arial"/>
                <a:ea typeface="Arial"/>
                <a:cs typeface="Arial"/>
              </a:defRPr>
            </a:pPr>
            <a:r>
              <a:rPr sz="1425" b="0" lang="en-US">
                <a:solidFill>
                  <a:srgbClr val="172936"/>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825EB1F-2F62-4791-A5BA-19C9ABB18E2C}"/>
              </a:ext>
            </a:extLst>
          </p:cNvPr>
          <p:cNvSpPr>
            <a:spLocks xmlns:a="http://schemas.openxmlformats.org/drawingml/2006/main" noGrp="1"/>
          </p:cNvSpPr>
          <p:nvPr/>
        </p:nvSpPr>
        <p:spPr>
          <a:xfrm xmlns:a="http://schemas.openxmlformats.org/drawingml/2006/main">
            <a:off x="952500" y="2000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اختيار الشبكة B مع تحسن محدود في الاختبار</a:t>
            </a:r>
          </a:p>
        </p:txBody>
      </p:sp>
      <p:sp>
        <p:nvSpPr>
          <p:cNvPr id="4" name="">
            <a:extLst xmlns:a="http://schemas.openxmlformats.org/drawingml/2006/main">
              <a:ext uri="{FF2B5EF4-FFF2-40B4-BE49-F238E27FC236}">
                <a16:creationId xmlns:a16="http://schemas.microsoft.com/office/drawing/2014/main" id="{C201E568-9833-4086-B4FE-A66809482B15}"/>
              </a:ext>
            </a:extLst>
          </p:cNvPr>
          <p:cNvSpPr>
            <a:spLocks xmlns:a="http://schemas.openxmlformats.org/drawingml/2006/main" noGrp="1"/>
          </p:cNvSpPr>
          <p:nvPr/>
        </p:nvSpPr>
        <p:spPr>
          <a:xfrm xmlns:a="http://schemas.openxmlformats.org/drawingml/2006/main">
            <a:off x="952500" y="2762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القيود: عينة صغيرة ومفقودات كثيرة واستدعاء منخفض</a:t>
            </a:r>
          </a:p>
        </p:txBody>
      </p:sp>
      <p:sp>
        <p:nvSpPr>
          <p:cNvPr id="5" name="">
            <a:extLst xmlns:a="http://schemas.openxmlformats.org/drawingml/2006/main">
              <a:ext uri="{FF2B5EF4-FFF2-40B4-BE49-F238E27FC236}">
                <a16:creationId xmlns:a16="http://schemas.microsoft.com/office/drawing/2014/main" id="{143A50CB-6343-40AD-85B1-135332043714}"/>
              </a:ext>
            </a:extLst>
          </p:cNvPr>
          <p:cNvSpPr>
            <a:spLocks xmlns:a="http://schemas.openxmlformats.org/drawingml/2006/main" noGrp="1"/>
          </p:cNvSpPr>
          <p:nvPr/>
        </p:nvSpPr>
        <p:spPr>
          <a:xfrm xmlns:a="http://schemas.openxmlformats.org/drawingml/2006/main">
            <a:off x="952500" y="3524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التطوير: تحقق متقاطع وتعويض وعتبة تضبط على التحقق</a:t>
            </a:r>
          </a:p>
        </p:txBody>
      </p:sp>
      <p:sp>
        <p:nvSpPr>
          <p:cNvPr id="6" name="">
            <a:extLst xmlns:a="http://schemas.openxmlformats.org/drawingml/2006/main">
              <a:ext uri="{FF2B5EF4-FFF2-40B4-BE49-F238E27FC236}">
                <a16:creationId xmlns:a16="http://schemas.microsoft.com/office/drawing/2014/main" id="{F140009B-8622-4E0D-96BB-EDB147A4A805}"/>
              </a:ext>
            </a:extLst>
          </p:cNvPr>
          <p:cNvSpPr>
            <a:spLocks xmlns:a="http://schemas.openxmlformats.org/drawingml/2006/main" noGrp="1"/>
          </p:cNvSpPr>
          <p:nvPr/>
        </p:nvSpPr>
        <p:spPr>
          <a:xfrm xmlns:a="http://schemas.openxmlformats.org/drawingml/2006/main">
            <a:off x="952500" y="4286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325" b="0">
                <a:solidFill>
                  <a:srgbClr val="172936"/>
                </a:solidFill>
                <a:latin typeface="Arial"/>
                <a:ea typeface="Arial"/>
                <a:cs typeface="Arial"/>
              </a:defRPr>
            </a:defPPr>
            <a:lvl1pPr algn="r">
              <a:defRPr sz="2325" b="0">
                <a:solidFill>
                  <a:srgbClr val="172936"/>
                </a:solidFill>
                <a:latin typeface="Arial"/>
                <a:ea typeface="Arial"/>
                <a:cs typeface="Arial"/>
              </a:defRPr>
            </a:lvl1pPr>
            <a:lvl2pPr algn="r">
              <a:defRPr sz="2325" b="0">
                <a:solidFill>
                  <a:srgbClr val="172936"/>
                </a:solidFill>
                <a:latin typeface="Arial"/>
                <a:ea typeface="Arial"/>
                <a:cs typeface="Arial"/>
              </a:defRPr>
            </a:lvl2pPr>
            <a:lvl3pPr algn="r">
              <a:defRPr sz="2325" b="0">
                <a:solidFill>
                  <a:srgbClr val="172936"/>
                </a:solidFill>
                <a:latin typeface="Arial"/>
                <a:ea typeface="Arial"/>
                <a:cs typeface="Arial"/>
              </a:defRPr>
            </a:lvl3pPr>
            <a:lvl4pPr algn="r">
              <a:defRPr sz="2325" b="0">
                <a:solidFill>
                  <a:srgbClr val="172936"/>
                </a:solidFill>
                <a:latin typeface="Arial"/>
                <a:ea typeface="Arial"/>
                <a:cs typeface="Arial"/>
              </a:defRPr>
            </a:lvl4pPr>
            <a:lvl5pPr algn="r">
              <a:defRPr sz="2325" b="0">
                <a:solidFill>
                  <a:srgbClr val="172936"/>
                </a:solidFill>
                <a:latin typeface="Arial"/>
                <a:ea typeface="Arial"/>
                <a:cs typeface="Arial"/>
              </a:defRPr>
            </a:lvl5pPr>
            <a:lvl6pPr algn="r">
              <a:defRPr sz="2325" b="0">
                <a:solidFill>
                  <a:srgbClr val="172936"/>
                </a:solidFill>
                <a:latin typeface="Arial"/>
                <a:ea typeface="Arial"/>
                <a:cs typeface="Arial"/>
              </a:defRPr>
            </a:lvl6pPr>
            <a:lvl7pPr algn="r">
              <a:defRPr sz="2325" b="0">
                <a:solidFill>
                  <a:srgbClr val="172936"/>
                </a:solidFill>
                <a:latin typeface="Arial"/>
                <a:ea typeface="Arial"/>
                <a:cs typeface="Arial"/>
              </a:defRPr>
            </a:lvl7pPr>
            <a:lvl8pPr algn="r">
              <a:defRPr sz="2325" b="0">
                <a:solidFill>
                  <a:srgbClr val="172936"/>
                </a:solidFill>
                <a:latin typeface="Arial"/>
                <a:ea typeface="Arial"/>
                <a:cs typeface="Arial"/>
              </a:defRPr>
            </a:lvl8pPr>
            <a:lvl9pPr algn="r">
              <a:defRPr sz="2325" b="0">
                <a:solidFill>
                  <a:srgbClr val="172936"/>
                </a:solidFill>
                <a:latin typeface="Arial"/>
                <a:ea typeface="Arial"/>
                <a:cs typeface="Arial"/>
              </a:defRPr>
            </a:lvl9pPr>
          </a:lstStyle>
          <a:p xmlns:a="http://schemas.openxmlformats.org/drawingml/2006/main">
            <a:pPr algn="r" rtl="1">
              <a:defRPr sz="2325" b="0" lang="ar-SA">
                <a:solidFill>
                  <a:srgbClr val="172936"/>
                </a:solidFill>
                <a:latin typeface="Arial"/>
                <a:ea typeface="Arial"/>
                <a:cs typeface="Arial"/>
              </a:defRPr>
            </a:pPr>
            <a:r>
              <a:rPr sz="2325" b="0" lang="ar-SA">
                <a:solidFill>
                  <a:srgbClr val="172936"/>
                </a:solidFill>
                <a:latin typeface="Arial"/>
                <a:ea typeface="Arial"/>
                <a:cs typeface="Arial"/>
              </a:rPr>
              <a:t>التجربة تعليمية وتحتاج تقييما مستقلا قبل أي استعمال عملي</a:t>
            </a:r>
          </a:p>
        </p:txBody>
      </p:sp>
      <p:sp>
        <p:nvSpPr>
          <p:cNvPr id="7" name="">
            <a:extLst xmlns:a="http://schemas.openxmlformats.org/drawingml/2006/main">
              <a:ext uri="{FF2B5EF4-FFF2-40B4-BE49-F238E27FC236}">
                <a16:creationId xmlns:a16="http://schemas.microsoft.com/office/drawing/2014/main" id="{0B368F67-3743-44F4-B0B6-D11B931D3A93}"/>
              </a:ext>
            </a:extLst>
          </p:cNvPr>
          <p:cNvSpPr>
            <a:spLocks xmlns:a="http://schemas.openxmlformats.org/drawingml/2006/main" noGrp="1"/>
          </p:cNvSpPr>
          <p:nvPr/>
        </p:nvSpPr>
        <p:spPr>
          <a:xfrm xmlns:a="http://schemas.openxmlformats.org/drawingml/2006/main">
            <a:off x="952500" y="55245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2025" b="0">
                <a:solidFill>
                  <a:srgbClr val="172936"/>
                </a:solidFill>
                <a:latin typeface="Arial"/>
                <a:ea typeface="Arial"/>
                <a:cs typeface="Arial"/>
              </a:defRPr>
            </a:defPPr>
            <a:lvl1pPr algn="r">
              <a:defRPr sz="2025" b="0">
                <a:solidFill>
                  <a:srgbClr val="172936"/>
                </a:solidFill>
                <a:latin typeface="Arial"/>
                <a:ea typeface="Arial"/>
                <a:cs typeface="Arial"/>
              </a:defRPr>
            </a:lvl1pPr>
            <a:lvl2pPr algn="r">
              <a:defRPr sz="2025" b="0">
                <a:solidFill>
                  <a:srgbClr val="172936"/>
                </a:solidFill>
                <a:latin typeface="Arial"/>
                <a:ea typeface="Arial"/>
                <a:cs typeface="Arial"/>
              </a:defRPr>
            </a:lvl2pPr>
            <a:lvl3pPr algn="r">
              <a:defRPr sz="2025" b="0">
                <a:solidFill>
                  <a:srgbClr val="172936"/>
                </a:solidFill>
                <a:latin typeface="Arial"/>
                <a:ea typeface="Arial"/>
                <a:cs typeface="Arial"/>
              </a:defRPr>
            </a:lvl3pPr>
            <a:lvl4pPr algn="r">
              <a:defRPr sz="2025" b="0">
                <a:solidFill>
                  <a:srgbClr val="172936"/>
                </a:solidFill>
                <a:latin typeface="Arial"/>
                <a:ea typeface="Arial"/>
                <a:cs typeface="Arial"/>
              </a:defRPr>
            </a:lvl4pPr>
            <a:lvl5pPr algn="r">
              <a:defRPr sz="2025" b="0">
                <a:solidFill>
                  <a:srgbClr val="172936"/>
                </a:solidFill>
                <a:latin typeface="Arial"/>
                <a:ea typeface="Arial"/>
                <a:cs typeface="Arial"/>
              </a:defRPr>
            </a:lvl5pPr>
            <a:lvl6pPr algn="r">
              <a:defRPr sz="2025" b="0">
                <a:solidFill>
                  <a:srgbClr val="172936"/>
                </a:solidFill>
                <a:latin typeface="Arial"/>
                <a:ea typeface="Arial"/>
                <a:cs typeface="Arial"/>
              </a:defRPr>
            </a:lvl6pPr>
            <a:lvl7pPr algn="r">
              <a:defRPr sz="2025" b="0">
                <a:solidFill>
                  <a:srgbClr val="172936"/>
                </a:solidFill>
                <a:latin typeface="Arial"/>
                <a:ea typeface="Arial"/>
                <a:cs typeface="Arial"/>
              </a:defRPr>
            </a:lvl7pPr>
            <a:lvl8pPr algn="r">
              <a:defRPr sz="2025" b="0">
                <a:solidFill>
                  <a:srgbClr val="172936"/>
                </a:solidFill>
                <a:latin typeface="Arial"/>
                <a:ea typeface="Arial"/>
                <a:cs typeface="Arial"/>
              </a:defRPr>
            </a:lvl8pPr>
            <a:lvl9pPr algn="r">
              <a:defRPr sz="2025" b="0">
                <a:solidFill>
                  <a:srgbClr val="172936"/>
                </a:solidFill>
                <a:latin typeface="Arial"/>
                <a:ea typeface="Arial"/>
                <a:cs typeface="Arial"/>
              </a:defRPr>
            </a:lvl9pPr>
          </a:lstStyle>
          <a:p xmlns:a="http://schemas.openxmlformats.org/drawingml/2006/main">
            <a:pPr algn="r" rtl="1">
              <a:defRPr sz="2025" b="0" lang="ar-SA">
                <a:solidFill>
                  <a:srgbClr val="172936"/>
                </a:solidFill>
                <a:latin typeface="Arial"/>
                <a:ea typeface="Arial"/>
                <a:cs typeface="Arial"/>
              </a:defRPr>
            </a:pPr>
            <a:r>
              <a:rPr sz="2025" b="0" lang="ar-SA">
                <a:solidFill>
                  <a:srgbClr val="172936"/>
                </a:solidFill>
                <a:latin typeface="Arial"/>
                <a:ea typeface="Arial"/>
                <a:cs typeface="Arial"/>
              </a:rPr>
              <a:t>المراجع والروابط الكاملة في التقرير وملاحظات العرض</a:t>
            </a:r>
          </a:p>
        </p:txBody>
      </p:sp>
    </p:spTree>
    <p:extLst>
      <p:ext uri="{BB962C8B-B14F-4D97-AF65-F5344CB8AC3E}">
        <p14:creationId xmlns:p14="http://schemas.microsoft.com/office/powerpoint/2010/main" val="2897687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2026-10-29T20:13:53.2610000Z</dcterms:created>
  <dcterms:modified xsi:type="dcterms:W3CDTF">2026-10-29T20:13:53.2620000Z</dcterms:modified>
</coreProperties>
</file>